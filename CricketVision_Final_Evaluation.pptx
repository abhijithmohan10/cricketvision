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88952" cy="2560320"/>
          </a:xfrm>
          <a:prstGeom prst="rect">
            <a:avLst/>
          </a:prstGeom>
          <a:solidFill>
            <a:srgbClr val="06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37760"/>
            <a:ext cx="12188952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059669"/>
                </a:solidFill>
                <a:latin typeface="Calibri"/>
              </a:rPr>
              <a:t>CricketVision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2745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 Light"/>
              </a:rPr>
              <a:t>Performance Analytics &amp;
Biomechanics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Final Evaluation Presentation  |  MCA Mini-Project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817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alibri"/>
              </a:rPr>
              <a:t>Student  :  Abhijith Mohan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64992"/>
            <a:ext cx="10817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alibri"/>
              </a:rPr>
              <a:t>Department  :  Master of Computer Applications (MCA)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12464"/>
            <a:ext cx="10817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alibri"/>
              </a:rPr>
              <a:t>Technology Stack  :  MERN  |  React 18  |  Tailwind CSS  |  Recharts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59936"/>
            <a:ext cx="10817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alibri"/>
              </a:rPr>
              <a:t>Repository  :  github.com/Abhijithmohan10/cricketvision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 Light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CricketVision AI — What it is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94360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59669"/>
                </a:solidFill>
                <a:latin typeface="Calibri"/>
              </a:rPr>
              <a:t>Platform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5623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AI-powered full-stack sports analytics platform for cricket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57984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Built for Head Coaches, Elite Players &amp; Performance Analysts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59736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Combines match statistics, biomechanics &amp; AI-driven simulation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6148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Tech Stack: React 18 + Node.js + Express + MongoDB (MERN)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06324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Deployed live on GitHub Pages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371600"/>
            <a:ext cx="530352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B4D8"/>
                </a:solidFill>
                <a:latin typeface="Calibri"/>
              </a:rPr>
              <a:t>Key Modules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18562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AI Computer Vision Video Analyzer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15798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Head-to-Head Player 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45973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Coach &amp; Performance Director Suite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7614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Player Portal &amp; Biomechanics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063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Match Simulator &amp; Win Predictor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57200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F172A"/>
                </a:solidFill>
                <a:latin typeface="Calibri"/>
              </a:rPr>
              <a:t>100+ verified IPL &amp; International player profiles  |  Role-based Auth: Coach | Player | Analyst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 Light"/>
              </a:rPr>
              <a:t>Requirement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Functional &amp; Non-Functional Requirements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66928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59669"/>
                </a:solidFill>
                <a:latin typeface="Calibri"/>
              </a:rPr>
              <a:t>Functional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5623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Role-based login: Coach, Player, Analyst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5798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MongoDB CRUD for 100+ player profiles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5973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AI Video Analyzer — ball/bat speed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6148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Match simulation with win probability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0632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Radar chart &amp; wagon-wheel visualisation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36499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JWT authentication &amp; bcrypt password hashing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548640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5087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B4D8"/>
                </a:solidFill>
                <a:latin typeface="Calibri"/>
              </a:rPr>
              <a:t>Non-Functional Requirements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85623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Responsive UI (mobile + desktop)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5798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&lt; 2s page load with Vite production 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45973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MongoDB connection fallback handling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76148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GitHub Pages deployment (always-on)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063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PDF match report export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36499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Secure .env-based secret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709160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75669"/>
                </a:solidFill>
                <a:latin typeface="Calibri"/>
              </a:rPr>
              <a:t>OS: Windows / macOS / Linux  |  Browser: Chrome 120+  |  Node.js ≥ 18  |  MongoDB local/Atlas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 Light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The gap CricketVision fills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1457432" cy="3474720"/>
          </a:xfrm>
          <a:prstGeom prst="rect">
            <a:avLst/>
          </a:prstGeom>
          <a:solidFill>
            <a:srgbClr val="0F172A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908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✗  Traditional coaching relies on fragmented static scorecards &amp; subjective observation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84248"/>
            <a:ext cx="10908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✗  No integrated platform for fatigue monitoring + phase-wise performance (PP / MO / DO)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68296"/>
            <a:ext cx="10908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✗  Real-time match simulation against opposition tactics is unavailable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52344"/>
            <a:ext cx="10908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✗  Roster management requires raw database tools inaccessible to non-technical coaches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36392"/>
            <a:ext cx="10908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✗  Computer vision biomechanics tracking has no cricket-specific affordable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10908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59669"/>
                </a:solidFill>
                <a:latin typeface="Calibri"/>
              </a:rPr>
              <a:t>✔  CricketVision bridges ALL these gaps in a single unified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 Light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What CricketVision aims to achieve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5577840" cy="1325880"/>
          </a:xfrm>
          <a:prstGeom prst="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59669"/>
                </a:solidFill>
                <a:latin typeface="Calibri"/>
              </a:rPr>
              <a:t>01  Coach &amp; Director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Full roster CRUD, Team XI optimizer, AI strategy assistant, fatigue oversight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371600"/>
            <a:ext cx="5577840" cy="1325880"/>
          </a:xfrm>
          <a:prstGeom prst="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59669"/>
                </a:solidFill>
                <a:latin typeface="Calibri"/>
              </a:rPr>
              <a:t>02  Player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Personalized metrics, pitch &amp; wagon wheel, biomechanics summary, drill recommendations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834640"/>
            <a:ext cx="5577840" cy="1325880"/>
          </a:xfrm>
          <a:prstGeom prst="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9260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59669"/>
                </a:solidFill>
                <a:latin typeface="Calibri"/>
              </a:rPr>
              <a:t>03  Analyst Portal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9184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Match simulator, Next Match predictor, pose-estimation video analyzer, radar comparisons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834640"/>
            <a:ext cx="5577840" cy="1325880"/>
          </a:xfrm>
          <a:prstGeom prst="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9260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59669"/>
                </a:solidFill>
                <a:latin typeface="Calibri"/>
              </a:rPr>
              <a:t>04  Role-Based Auth &amp; 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9184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MongoDB with 100+ player profiles, schema validation, instant role-based quick-auth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297680"/>
            <a:ext cx="5577840" cy="1325880"/>
          </a:xfrm>
          <a:prstGeom prst="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3891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59669"/>
                </a:solidFill>
                <a:latin typeface="Calibri"/>
              </a:rPr>
              <a:t>05  Production 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75488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GitHub Pages live deployment with Vite SPA build, JWT + bcrypt security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4297680"/>
            <a:ext cx="5577840" cy="1325880"/>
          </a:xfrm>
          <a:prstGeom prst="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3891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59669"/>
                </a:solidFill>
                <a:latin typeface="Calibri"/>
              </a:rPr>
              <a:t>06  Computer Vision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75488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Ball speed, bat speed, shot perfection score via custom video analysis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 Light"/>
              </a:rPr>
              <a:t>Scope and Relevance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Who benefits &amp; why it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3657600" cy="3474720"/>
          </a:xfrm>
          <a:prstGeom prst="rect">
            <a:avLst/>
          </a:prstGeom>
          <a:solidFill>
            <a:srgbClr val="0F172A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59669"/>
                </a:solidFill>
                <a:latin typeface="Calibri"/>
              </a:rPr>
              <a:t>Coach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▸  Full squad roster management via MongoDB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▸  AI tactical coaching assistant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▸  Team XI optimizer with balance scoring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175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▸  Biomechanics video upload &amp;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24528" y="1371600"/>
            <a:ext cx="3657600" cy="3474720"/>
          </a:xfrm>
          <a:prstGeom prst="rect">
            <a:avLst/>
          </a:prstGeom>
          <a:solidFill>
            <a:srgbClr val="0F172A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14630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B4D8"/>
                </a:solidFill>
                <a:latin typeface="Calibri"/>
              </a:rPr>
              <a:t>Player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19202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▸  Personalized stats portal (Kohli / Bumrah)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22860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▸  360° pitch wagon wheel visualization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26517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▸  AI drill recommendations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30175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▸  Fatigue &amp; injury status tracking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371600"/>
            <a:ext cx="3657600" cy="3474720"/>
          </a:xfrm>
          <a:prstGeom prst="rect">
            <a:avLst/>
          </a:prstGeom>
          <a:solidFill>
            <a:srgbClr val="0F172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4630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59E0B"/>
                </a:solidFill>
                <a:latin typeface="Calibri"/>
              </a:rPr>
              <a:t>Analyst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19202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▸  Ball-by-ball win probability simulation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2860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▸  Venue &amp; opposition match-up matrix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6517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▸  H2H dual radar chart comparisons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0175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▸  PDF scouting report export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4983480"/>
            <a:ext cx="11548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475669"/>
                </a:solidFill>
                <a:latin typeface="Calibri"/>
              </a:rPr>
              <a:t>Relevant to IPL franchises, national academies, university cricket coaching programs &amp; sports-tech startups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 Light"/>
              </a:rPr>
              <a:t>Development Methodology 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Agile Scrum Framework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5120640" cy="4114800"/>
          </a:xfrm>
          <a:prstGeom prst="rect">
            <a:avLst/>
          </a:prstGeom>
          <a:solidFill>
            <a:srgbClr val="0F172A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59669"/>
                </a:solidFill>
                <a:latin typeface="Calibri"/>
              </a:rPr>
              <a:t>Scrum Roles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•  Product Owner / Guide  — MCA Project Reviewer &amp; Approver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•  Scrum Master &amp; Lead Dev — Abhijith Mohan (Full-Stack)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B4D8"/>
                </a:solidFill>
                <a:latin typeface="Calibri"/>
              </a:rPr>
              <a:t>Story Point Scale (Fibonacci)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9184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alibri"/>
              </a:rPr>
              <a:t>  1–2 pts  •  Low:  Styling, modals, form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3931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alibri"/>
              </a:rPr>
              <a:t>  3–5 pts  •  Medium:  Mongoose schemas, REST endpoints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8678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alibri"/>
              </a:rPr>
              <a:t>  8 pts  •  High:  100+ player seeder, Recharts, Simulator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3425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alibri"/>
              </a:rPr>
              <a:t>  13 pts  •  Very High:  AI Coach NLP, Video pose analyzer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0" y="1371600"/>
            <a:ext cx="603504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148132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59669"/>
                </a:solidFill>
                <a:latin typeface="Calibri"/>
              </a:rPr>
              <a:t>7 Sprint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192024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▸  Sprint 0 (Jul 01–07) — Scope, Architecture, Guide Approval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2313432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▸  Sprint 1 (Jul 08–10) — MongoDB Schema + REST API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2706624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▸  Sprint 2 (Jul 11–13) — Radar, Wagon Wheel, Fatigue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3099816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▸  Sprint 3 (Jul 14–17) — Auth UI, Portals, Navbar, Dashboards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349300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▸  Sprint 4 (Jul 18–20) — Simulator, Predictor, Video Analyzer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388620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▸  Sprint 5 (Jul 21–23) — DB Manager, AI Coach, Documentation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4279392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▸  Sprint 7 (Sep 09–18) — H2H Comparison, Mobile UX, Deploy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 Light"/>
              </a:rPr>
              <a:t>Development Methodology  (2/3)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Scrum Artifacts, Ceremonies &amp; Definition of Done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5669280" cy="2651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59669"/>
                </a:solidFill>
                <a:latin typeface="Calibri"/>
              </a:rPr>
              <a:t>Scrum Artifacts &amp; Ceremonies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5623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Product Backlog — 25 User Stories (US-01 to US-25)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5798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Sprint Backlog — per-sprint breakdown of tasks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5973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Sprint Review &amp; Retrospective — held after each sprint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6148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Burndown Chart — daily story point tracking (137 total points)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632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Daily Standup — individual solo-developer daily log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5577840" cy="2651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508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B4D8"/>
                </a:solidFill>
                <a:latin typeface="Calibri"/>
              </a:rPr>
              <a:t>Definition of Done (DoD)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8562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Backend REST endpoints operate error-free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5798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Mongoose schema validation handles edge cases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45973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React components render with live reactive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7614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Role-based testing (Coach / Player / Analyst) passes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297680"/>
            <a:ext cx="2795778" cy="1417320"/>
          </a:xfrm>
          <a:prstGeom prst="rect">
            <a:avLst/>
          </a:prstGeom>
          <a:solidFill>
            <a:srgbClr val="0F172A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4389120"/>
            <a:ext cx="279577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9669"/>
                </a:solidFill>
                <a:latin typeface="Calibri"/>
              </a:rPr>
              <a:t>137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4956048"/>
            <a:ext cx="279577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Calibri"/>
              </a:rPr>
              <a:t>Total Planned
Story Points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7258" y="4297680"/>
            <a:ext cx="2795778" cy="1417320"/>
          </a:xfrm>
          <a:prstGeom prst="rect">
            <a:avLst/>
          </a:prstGeom>
          <a:solidFill>
            <a:srgbClr val="0F172A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7258" y="4389120"/>
            <a:ext cx="279577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9669"/>
                </a:solidFill>
                <a:latin typeface="Calibri"/>
              </a:rPr>
              <a:t>121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7258" y="4956048"/>
            <a:ext cx="279577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Calibri"/>
              </a:rPr>
              <a:t>Completed
Story Points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4476" y="4297680"/>
            <a:ext cx="2795778" cy="1417320"/>
          </a:xfrm>
          <a:prstGeom prst="rect">
            <a:avLst/>
          </a:prstGeom>
          <a:solidFill>
            <a:srgbClr val="0F172A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4476" y="4389120"/>
            <a:ext cx="279577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9669"/>
                </a:solidFill>
                <a:latin typeface="Calibri"/>
              </a:rPr>
              <a:t>88.3%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4476" y="4956048"/>
            <a:ext cx="279577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Calibri"/>
              </a:rPr>
              <a:t>Completion
Rate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81694" y="4297680"/>
            <a:ext cx="2795778" cy="1417320"/>
          </a:xfrm>
          <a:prstGeom prst="rect">
            <a:avLst/>
          </a:prstGeom>
          <a:solidFill>
            <a:srgbClr val="0F172A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81694" y="4389120"/>
            <a:ext cx="279577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9669"/>
                </a:solidFill>
                <a:latin typeface="Calibri"/>
              </a:rPr>
              <a:t>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81694" y="4956048"/>
            <a:ext cx="279577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Calibri"/>
              </a:rPr>
              <a:t>Deferred
Points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 Light"/>
              </a:rPr>
              <a:t>Development Methodology  (3/3)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Product Backlog — Selected User Stories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640080" cy="3474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" y="1444752"/>
            <a:ext cx="566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Story ID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1417320"/>
            <a:ext cx="914400" cy="3474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1444752"/>
            <a:ext cx="841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Epic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74520" y="1417320"/>
            <a:ext cx="5029200" cy="3474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11096" y="1444752"/>
            <a:ext cx="4956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03720" y="1417320"/>
            <a:ext cx="1005840" cy="3474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0296" y="1444752"/>
            <a:ext cx="932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Priority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60" y="1417320"/>
            <a:ext cx="457200" cy="3474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46136" y="1444752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66760" y="1417320"/>
            <a:ext cx="822960" cy="3474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444752"/>
            <a:ext cx="749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764792"/>
            <a:ext cx="6400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" y="1792224"/>
            <a:ext cx="566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Calibri"/>
              </a:rPr>
              <a:t>US-01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1764792"/>
            <a:ext cx="9144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" y="1792224"/>
            <a:ext cx="841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Setup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74520" y="1764792"/>
            <a:ext cx="50292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11096" y="1792224"/>
            <a:ext cx="4956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Initialize Node.js, Express, Vite, Tailwind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03720" y="1764792"/>
            <a:ext cx="100584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0296" y="1792224"/>
            <a:ext cx="932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Must Have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09560" y="1764792"/>
            <a:ext cx="4572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46136" y="179222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66760" y="1764792"/>
            <a:ext cx="8229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03336" y="1792224"/>
            <a:ext cx="749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59669"/>
                </a:solidFill>
                <a:latin typeface="Calibri"/>
              </a:rPr>
              <a:t>Done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112264"/>
            <a:ext cx="640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" y="2139696"/>
            <a:ext cx="566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Calibri"/>
              </a:rPr>
              <a:t>US-04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" y="2112264"/>
            <a:ext cx="914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6696" y="2139696"/>
            <a:ext cx="841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Backend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74520" y="2112264"/>
            <a:ext cx="5029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11096" y="2139696"/>
            <a:ext cx="4956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Auto-seed 100+ IPL/Intl player database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03720" y="2112264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0296" y="2139696"/>
            <a:ext cx="932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Must Have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09560" y="2112264"/>
            <a:ext cx="457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46136" y="2139696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66760" y="2112264"/>
            <a:ext cx="822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03336" y="2139696"/>
            <a:ext cx="749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59669"/>
                </a:solidFill>
                <a:latin typeface="Calibri"/>
              </a:rPr>
              <a:t>Done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2459736"/>
            <a:ext cx="6400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6616" y="2487168"/>
            <a:ext cx="566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Calibri"/>
              </a:rPr>
              <a:t>US-05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0120" y="2459736"/>
            <a:ext cx="9144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6696" y="2487168"/>
            <a:ext cx="841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Auth API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74520" y="2459736"/>
            <a:ext cx="50292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911096" y="2487168"/>
            <a:ext cx="4956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Login &amp; Register endpoints with JWT + bcrypt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03720" y="2459736"/>
            <a:ext cx="100584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0296" y="2487168"/>
            <a:ext cx="932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Must Have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09560" y="2459736"/>
            <a:ext cx="4572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46136" y="248716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66760" y="2459736"/>
            <a:ext cx="8229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03336" y="2487168"/>
            <a:ext cx="749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59669"/>
                </a:solidFill>
                <a:latin typeface="Calibri"/>
              </a:rPr>
              <a:t>Done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2807208"/>
            <a:ext cx="640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6616" y="2834640"/>
            <a:ext cx="566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Calibri"/>
              </a:rPr>
              <a:t>US-10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60120" y="2807208"/>
            <a:ext cx="914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96696" y="2834640"/>
            <a:ext cx="841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Analytics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74520" y="2807208"/>
            <a:ext cx="5029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911096" y="2834640"/>
            <a:ext cx="4956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Recharts Radar Chart for player skill visualization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903720" y="2807208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940296" y="2834640"/>
            <a:ext cx="932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Must Have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909560" y="2807208"/>
            <a:ext cx="457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946136" y="2834640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66760" y="2807208"/>
            <a:ext cx="822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03336" y="2834640"/>
            <a:ext cx="749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59669"/>
                </a:solidFill>
                <a:latin typeface="Calibri"/>
              </a:rPr>
              <a:t>Done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3154680"/>
            <a:ext cx="6400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56616" y="3182112"/>
            <a:ext cx="566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Calibri"/>
              </a:rPr>
              <a:t>US-13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60120" y="3154680"/>
            <a:ext cx="9144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96696" y="3182112"/>
            <a:ext cx="841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Simulator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874520" y="3154680"/>
            <a:ext cx="50292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911096" y="3182112"/>
            <a:ext cx="4956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Ball-by-ball win probability match simulator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903720" y="3154680"/>
            <a:ext cx="100584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940296" y="3182112"/>
            <a:ext cx="932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Must Have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909560" y="3154680"/>
            <a:ext cx="4572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946136" y="3182112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366760" y="3154680"/>
            <a:ext cx="8229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403336" y="3182112"/>
            <a:ext cx="749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59669"/>
                </a:solidFill>
                <a:latin typeface="Calibri"/>
              </a:rPr>
              <a:t>Done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0040" y="3502152"/>
            <a:ext cx="640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56616" y="3529584"/>
            <a:ext cx="566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Calibri"/>
              </a:rPr>
              <a:t>US-15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60120" y="3502152"/>
            <a:ext cx="914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96696" y="3529584"/>
            <a:ext cx="841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Video AI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874520" y="3502152"/>
            <a:ext cx="5029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911096" y="3529584"/>
            <a:ext cx="4956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CV Video Analyzer — ball/bat speed, shot perfection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903720" y="3502152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940296" y="3529584"/>
            <a:ext cx="932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Should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909560" y="3502152"/>
            <a:ext cx="457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946136" y="352958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8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366760" y="3502152"/>
            <a:ext cx="822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403336" y="3529584"/>
            <a:ext cx="749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59669"/>
                </a:solidFill>
                <a:latin typeface="Calibri"/>
              </a:rPr>
              <a:t>Done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" y="3849624"/>
            <a:ext cx="6400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56616" y="3877056"/>
            <a:ext cx="566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Calibri"/>
              </a:rPr>
              <a:t>US-17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60120" y="3849624"/>
            <a:ext cx="9144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96696" y="3877056"/>
            <a:ext cx="841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DB Admin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874520" y="3849624"/>
            <a:ext cx="50292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911096" y="3877056"/>
            <a:ext cx="4956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DatabaseManagerModal live MongoDB CRUD portal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903720" y="3849624"/>
            <a:ext cx="100584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940296" y="3877056"/>
            <a:ext cx="932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Must Have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909560" y="3849624"/>
            <a:ext cx="4572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946136" y="3877056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8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366760" y="3849624"/>
            <a:ext cx="8229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403336" y="3877056"/>
            <a:ext cx="749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59669"/>
                </a:solidFill>
                <a:latin typeface="Calibri"/>
              </a:rPr>
              <a:t>Done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20040" y="4197096"/>
            <a:ext cx="640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56616" y="4224528"/>
            <a:ext cx="566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Calibri"/>
              </a:rPr>
              <a:t>US-23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60120" y="4197096"/>
            <a:ext cx="914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96696" y="4224528"/>
            <a:ext cx="841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H2H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874520" y="4197096"/>
            <a:ext cx="5029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911096" y="4224528"/>
            <a:ext cx="4956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Head-to-Head dual radar + AI tactical verdict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903720" y="4197096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940296" y="4224528"/>
            <a:ext cx="932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Should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909560" y="4197096"/>
            <a:ext cx="457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946136" y="422452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8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366760" y="4197096"/>
            <a:ext cx="822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403336" y="4224528"/>
            <a:ext cx="749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59669"/>
                </a:solidFill>
                <a:latin typeface="Calibri"/>
              </a:rPr>
              <a:t>Done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20040" y="4544568"/>
            <a:ext cx="6400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56616" y="4572000"/>
            <a:ext cx="566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Calibri"/>
              </a:rPr>
              <a:t>US-21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60120" y="4544568"/>
            <a:ext cx="9144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96696" y="4572000"/>
            <a:ext cx="841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Backlog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874520" y="4544568"/>
            <a:ext cx="50292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911096" y="4572000"/>
            <a:ext cx="4956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Real-time WebSocket live match data stream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903720" y="4544568"/>
            <a:ext cx="100584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940296" y="4572000"/>
            <a:ext cx="932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Could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909560" y="4544568"/>
            <a:ext cx="4572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946136" y="4572000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8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366760" y="4544568"/>
            <a:ext cx="8229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403336" y="4572000"/>
            <a:ext cx="749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F4444"/>
                </a:solidFill>
                <a:latin typeface="Calibri"/>
              </a:rPr>
              <a:t>Deferred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 Light"/>
              </a:rPr>
              <a:t>System Design 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3-Tier MERN Architecture &amp; Database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3794760" cy="4114800"/>
          </a:xfrm>
          <a:prstGeom prst="rect">
            <a:avLst/>
          </a:prstGeom>
          <a:solidFill>
            <a:srgbClr val="0F172A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63040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B4D8"/>
                </a:solidFill>
                <a:latin typeface="Calibri"/>
              </a:rPr>
              <a:t>PRESENTATION 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React 18 SPA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alibri"/>
              </a:rPr>
              <a:t>•  Vite + Tailwind CSS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7919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alibri"/>
              </a:rPr>
              <a:t>•  Recharts (Radar, Line, Bar)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2666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alibri"/>
              </a:rPr>
              <a:t>•  Lucide Icons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7413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alibri"/>
              </a:rPr>
              <a:t>•  Context API + localStorage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371600"/>
            <a:ext cx="3794760" cy="4114800"/>
          </a:xfrm>
          <a:prstGeom prst="rect">
            <a:avLst/>
          </a:prstGeom>
          <a:solidFill>
            <a:srgbClr val="0F172A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1463040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9669"/>
                </a:solidFill>
                <a:latin typeface="Calibri"/>
              </a:rPr>
              <a:t>BUSINESS LOGIC 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1828800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Node.js + Express.js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23317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alibri"/>
              </a:rPr>
              <a:t>•  REST API Routes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267919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alibri"/>
              </a:rPr>
              <a:t>•  JWT Auth Middleware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302666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alibri"/>
              </a:rPr>
              <a:t>•  bcrypt Password Hash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337413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alibri"/>
              </a:rPr>
              <a:t>•  MongoDB Connection Pool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0456" y="1371600"/>
            <a:ext cx="3794760" cy="4114800"/>
          </a:xfrm>
          <a:prstGeom prst="rect">
            <a:avLst/>
          </a:prstGeom>
          <a:solidFill>
            <a:srgbClr val="0F172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11896" y="1463040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59E0B"/>
                </a:solidFill>
                <a:latin typeface="Calibri"/>
              </a:rPr>
              <a:t>DATA TIER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1828800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MongoDB (Mongoose ODM)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3336" y="23317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alibri"/>
              </a:rPr>
              <a:t>•  Player Schema (100+ docs)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3336" y="267919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alibri"/>
              </a:rPr>
              <a:t>•  User Schema (RBAC)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302666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alibri"/>
              </a:rPr>
              <a:t>•  Upsert Seeding Strategy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3336" y="337413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alibri"/>
              </a:rPr>
              <a:t>•  Timestamps &amp;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31089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Calibri"/>
              </a:rPr>
              <a:t>↕ REST HTTP/JSON  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31089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Calibri"/>
              </a:rPr>
              <a:t>↕ Mongoose ODM   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 Light"/>
              </a:rPr>
              <a:t>System Design 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MongoDB Schema &amp; Entity Relationships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5669280" cy="4114800"/>
          </a:xfrm>
          <a:prstGeom prst="rect">
            <a:avLst/>
          </a:prstGeom>
          <a:solidFill>
            <a:srgbClr val="0F172A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59669"/>
                </a:solidFill>
                <a:latin typeface="Calibri"/>
              </a:rPr>
              <a:t>Player Schema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ourier New"/>
              </a:rPr>
              <a:t>  id, name, country, role, battingStyle, bowlingStyle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6771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ourier New"/>
              </a:rPr>
              <a:t>  iplTeam, avatar, jerseyNumber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1518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ourier New"/>
              </a:rPr>
              <a:t>  fatigueLevel, injuryStatus, clutchRating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6265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ourier New"/>
              </a:rPr>
              <a:t>  skillRadar: { Power, Consistency, Spin, Pace, Field, Clutch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1012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ourier New"/>
              </a:rPr>
              <a:t>  phaseStats: { powerplay, middleOvers, deathOvers 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576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ourier New"/>
              </a:rPr>
              <a:t>  recentForm[], biomechanicsSummary: { releaseAngle, strideLength 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5577840" cy="4114800"/>
          </a:xfrm>
          <a:prstGeom prst="rect">
            <a:avLst/>
          </a:prstGeom>
          <a:solidFill>
            <a:srgbClr val="0F172A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4630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B4D8"/>
                </a:solidFill>
                <a:latin typeface="Calibri"/>
              </a:rPr>
              <a:t>User Schema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9202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ourier New"/>
              </a:rPr>
              <a:t>  id, name, email (unique, regex validated)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2677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ourier New"/>
              </a:rPr>
              <a:t>  password (bcrypt hashed, minlength 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61518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ourier New"/>
              </a:rPr>
              <a:t>  role: enum ['coach', 'player', 'user']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6265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ourier New"/>
              </a:rPr>
              <a:t>  title, avatar, badge, playerId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3101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ourier New"/>
              </a:rPr>
              <a:t>  permissions: String[]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6576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ourier New"/>
              </a:rPr>
              <a:t>  JWT token issued on login, verified middleware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 Light"/>
              </a:rPr>
              <a:t>Implementation Details 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Backend Engine — Node.js + Express + MongoDB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5943600" cy="4389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59669"/>
                </a:solidFill>
                <a:latin typeface="Calibri"/>
              </a:rPr>
              <a:t>Backend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5623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Express.js REST API with `/api/players` and `/api/users` route controllers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57984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Mongoose upsert seeding strategy — 100+ IPL/Intl players on server 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59736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bcrypt salt hashing for all user passwords (10 salt rounds)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6148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JWT token signing on login; token middleware on protected routes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6324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Environment secrets via `.env` file (JWT_SECRET, MONGODB_URI)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6499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CORS middleware for React SPA cross-origin requests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66744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MongoDB connection fallback — graceful error if DB is offline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1371600"/>
            <a:ext cx="5394960" cy="4389120"/>
          </a:xfrm>
          <a:prstGeom prst="rect">
            <a:avLst/>
          </a:prstGeom>
          <a:solidFill>
            <a:srgbClr val="0A0F1E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4630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59669"/>
                </a:solidFill>
                <a:latin typeface="Calibri"/>
              </a:rPr>
              <a:t>API Endpoints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19202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B4D8"/>
                </a:solidFill>
                <a:latin typeface="Courier New"/>
              </a:rPr>
              <a:t>POST  /api/users/login      → Auth &amp; JWT issue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2677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B4D8"/>
                </a:solidFill>
                <a:latin typeface="Courier New"/>
              </a:rPr>
              <a:t>POST  /api/users/register   → Create user with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61518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B4D8"/>
                </a:solidFill>
                <a:latin typeface="Courier New"/>
              </a:rPr>
              <a:t>GET   /api/players          → Return all players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96265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B4D8"/>
                </a:solidFill>
                <a:latin typeface="Courier New"/>
              </a:rPr>
              <a:t>POST  /api/players          → Add new player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31012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B4D8"/>
                </a:solidFill>
                <a:latin typeface="Courier New"/>
              </a:rPr>
              <a:t>PUT   /api/players/:id      → Update player record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6576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B4D8"/>
                </a:solidFill>
                <a:latin typeface="Courier New"/>
              </a:rPr>
              <a:t>DELETE /api/players/:id     → Remove player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0050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B4D8"/>
                </a:solidFill>
                <a:latin typeface="Courier New"/>
              </a:rPr>
              <a:t>POST  /api/seed             → Reseed 100+ player database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 Light"/>
              </a:rPr>
              <a:t>Implementation Details  (2/3)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Frontend — React 18 + Recharts + Tailwind CSS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11548872" cy="3474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0817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Key Components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408176"/>
            <a:ext cx="7616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719072"/>
            <a:ext cx="37947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0" y="1719072"/>
            <a:ext cx="7754112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74650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59669"/>
                </a:solidFill>
                <a:latin typeface="Courier New"/>
              </a:rPr>
              <a:t>LoginView.jsx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746504"/>
            <a:ext cx="7616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Role persona cards (Coach/Player/Analyst) + quick-login presets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103120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0" y="2103120"/>
            <a:ext cx="775411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13055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59669"/>
                </a:solidFill>
                <a:latin typeface="Courier New"/>
              </a:rPr>
              <a:t>DashboardView.jsx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130552"/>
            <a:ext cx="7616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KPI cards — Squad Win Index, Fatigue Risk, Batting Power Rating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487168"/>
            <a:ext cx="37947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2487168"/>
            <a:ext cx="7754112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5146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59669"/>
                </a:solidFill>
                <a:latin typeface="Courier New"/>
              </a:rPr>
              <a:t>PlayerAnalyticsView.jsx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2514600"/>
            <a:ext cx="7616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Recharts RadarChart for 6 skill dimensions + phase stats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871216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0" y="2871216"/>
            <a:ext cx="775411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289864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59669"/>
                </a:solidFill>
                <a:latin typeface="Courier New"/>
              </a:rPr>
              <a:t>PitchAndWagonWheel.jsx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2898648"/>
            <a:ext cx="7616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SVG 360° shot dispersion map + pitch length heatmap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255264"/>
            <a:ext cx="37947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0" y="3255264"/>
            <a:ext cx="7754112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328269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59669"/>
                </a:solidFill>
                <a:latin typeface="Courier New"/>
              </a:rPr>
              <a:t>MatchSimulatorView.jsx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3282696"/>
            <a:ext cx="7616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Ball-by-ball win probability with pitch/weather modifiers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639312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0" y="3639312"/>
            <a:ext cx="775411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366674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59669"/>
                </a:solidFill>
                <a:latin typeface="Courier New"/>
              </a:rPr>
              <a:t>VideoAnalyzerView.jsx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3666744"/>
            <a:ext cx="7616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CV scanning animation, ball/bat speed, shot perfection score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023360"/>
            <a:ext cx="37947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0" y="4023360"/>
            <a:ext cx="7754112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405079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59669"/>
                </a:solidFill>
                <a:latin typeface="Courier New"/>
              </a:rPr>
              <a:t>PlayerComparisonView.jsx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0" y="4050792"/>
            <a:ext cx="7616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H2H dual radar overlay + AI tactical advantage breakdown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407408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0" y="4407408"/>
            <a:ext cx="775411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44348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59669"/>
                </a:solidFill>
                <a:latin typeface="Courier New"/>
              </a:rPr>
              <a:t>DatabaseManagerModal.jsx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0" y="4434840"/>
            <a:ext cx="7616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Live MongoDB CRUD panel — Add/Edit/Delete/Reseed players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 Light"/>
              </a:rPr>
              <a:t>Implementation Details  (3/3)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Security, Integration &amp; GitHub Pages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5669280" cy="2834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59669"/>
                </a:solidFill>
                <a:latin typeface="Calibri"/>
              </a:rPr>
              <a:t>Security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5623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bcrypt (10 salt rounds) for all password 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5798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JWT tokens — signed on login, verified per 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5973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Secrets via `.env` — JWT_SECRET, MONGODB_URI kept out of Git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6148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Role-based UI gating — Coach/Player/Analyst access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632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CORS headers configured for GitHub Pages origin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5577840" cy="2834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508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B4D8"/>
                </a:solidFill>
                <a:latin typeface="Calibri"/>
              </a:rPr>
              <a:t>Deployment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8562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Vite production build — `npm run build` → `dist/`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5798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GitHub Pages deploy — `npm run deploy` via gh-pages package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45973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Vite base path set to `/cricketvision/` for sub-path routing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7614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Live URL: abhijithmohan10.github.io/cricketvision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063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PDF export — html2canvas + jsPDF for match summary reports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389120"/>
            <a:ext cx="11548872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52628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59E0B"/>
                </a:solidFill>
                <a:latin typeface="Calibri"/>
              </a:rPr>
              <a:t>Performance &amp; UX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73752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Responsive mobile layout — sliding drawer nav + bottom navigation bar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175504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localStorage session persistence — user stays logged in on refresh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477256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Recharts interactive charts — hover tooltips, animated transitions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 Light"/>
              </a:rPr>
              <a:t>Results — User Authentication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Role-based persona selection with JWT auth</a:t>
            </a:r>
          </a:p>
        </p:txBody>
      </p:sp>
      <p:pic>
        <p:nvPicPr>
          <p:cNvPr id="6" name="Picture 5" descr="Auth_Persona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0"/>
            <a:ext cx="722376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772400" y="1371600"/>
            <a:ext cx="4114800" cy="822960"/>
          </a:xfrm>
          <a:prstGeom prst="rect">
            <a:avLst/>
          </a:prstGeom>
          <a:solidFill>
            <a:srgbClr val="0F172A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41732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3 role cards: Coach, Player, Analyst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2331720"/>
            <a:ext cx="4114800" cy="822960"/>
          </a:xfrm>
          <a:prstGeom prst="rect">
            <a:avLst/>
          </a:prstGeom>
          <a:solidFill>
            <a:srgbClr val="0F172A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237744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Quick-login persona presets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3291840"/>
            <a:ext cx="4114800" cy="822960"/>
          </a:xfrm>
          <a:prstGeom prst="rect">
            <a:avLst/>
          </a:prstGeom>
          <a:solidFill>
            <a:srgbClr val="0F172A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333756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JWT AUTH ACTIVE status indicator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4251960"/>
            <a:ext cx="4114800" cy="822960"/>
          </a:xfrm>
          <a:prstGeom prst="rect">
            <a:avLst/>
          </a:prstGeom>
          <a:solidFill>
            <a:srgbClr val="0F172A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429768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Add User registration flow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 Light"/>
              </a:rPr>
              <a:t>Results — Coach Dashboard (Rahul Dravid)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Full-access head coach portal with AI tactical intelligence</a:t>
            </a:r>
          </a:p>
        </p:txBody>
      </p:sp>
      <p:pic>
        <p:nvPicPr>
          <p:cNvPr id="6" name="Picture 5" descr="Coach_Dashboard_Rahul_Drav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0"/>
            <a:ext cx="722376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772400" y="1371600"/>
            <a:ext cx="4114800" cy="822960"/>
          </a:xfrm>
          <a:prstGeom prst="rect">
            <a:avLst/>
          </a:prstGeom>
          <a:solidFill>
            <a:srgbClr val="0F172A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41732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Squad Win Index: 78.4%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2331720"/>
            <a:ext cx="4114800" cy="822960"/>
          </a:xfrm>
          <a:prstGeom prst="rect">
            <a:avLst/>
          </a:prstGeom>
          <a:solidFill>
            <a:srgbClr val="0F172A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237744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Batting Power Rating: 92.8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3291840"/>
            <a:ext cx="4114800" cy="822960"/>
          </a:xfrm>
          <a:prstGeom prst="rect">
            <a:avLst/>
          </a:prstGeom>
          <a:solidFill>
            <a:srgbClr val="0F172A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333756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Bowling Death Economy: 7.12 rpo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4251960"/>
            <a:ext cx="4114800" cy="822960"/>
          </a:xfrm>
          <a:prstGeom prst="rect">
            <a:avLst/>
          </a:prstGeom>
          <a:solidFill>
            <a:srgbClr val="0F172A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429768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AI Matchup Alerts — real-time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 Light"/>
              </a:rPr>
              <a:t>Results — Video Biomechanics Analyzer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Custom CV engine for bat/ball speed and shot perfection</a:t>
            </a:r>
          </a:p>
        </p:txBody>
      </p:sp>
      <p:pic>
        <p:nvPicPr>
          <p:cNvPr id="6" name="Picture 5" descr="Video_Biomechanics_Analyz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0"/>
            <a:ext cx="722376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772400" y="1371600"/>
            <a:ext cx="4114800" cy="822960"/>
          </a:xfrm>
          <a:prstGeom prst="rect">
            <a:avLst/>
          </a:prstGeom>
          <a:solidFill>
            <a:srgbClr val="0F172A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41732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Ball Speed: 145.4 km/h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2331720"/>
            <a:ext cx="4114800" cy="822960"/>
          </a:xfrm>
          <a:prstGeom prst="rect">
            <a:avLst/>
          </a:prstGeom>
          <a:solidFill>
            <a:srgbClr val="0F172A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237744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Bat Speed: 142.8 km/h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3291840"/>
            <a:ext cx="4114800" cy="822960"/>
          </a:xfrm>
          <a:prstGeom prst="rect">
            <a:avLst/>
          </a:prstGeom>
          <a:solidFill>
            <a:srgbClr val="0F172A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333756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Shot Perfection: 96% (Elite)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4251960"/>
            <a:ext cx="4114800" cy="822960"/>
          </a:xfrm>
          <a:prstGeom prst="rect">
            <a:avLst/>
          </a:prstGeom>
          <a:solidFill>
            <a:srgbClr val="0F172A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429768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Player-specific scouting report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 Light"/>
              </a:rPr>
              <a:t>Results — Authentication &amp; Add User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Secure login flow with user registration</a:t>
            </a:r>
          </a:p>
        </p:txBody>
      </p:sp>
      <p:pic>
        <p:nvPicPr>
          <p:cNvPr id="6" name="Picture 5" descr="User_Authentication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0"/>
            <a:ext cx="5943600" cy="4572000"/>
          </a:xfrm>
          <a:prstGeom prst="rect">
            <a:avLst/>
          </a:prstGeom>
        </p:spPr>
      </p:pic>
      <p:pic>
        <p:nvPicPr>
          <p:cNvPr id="7" name="Picture 6" descr="Auth_Add_User_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539496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43891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 Role selector with ACCESS badges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7548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 Add User form with input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1206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 Coach full access vs Analyst limited scope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 Light"/>
              </a:rPr>
              <a:t>Results — Coach Dashboard UI &amp; Video Biomechanics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Side-by-side interface overview</a:t>
            </a:r>
          </a:p>
        </p:txBody>
      </p:sp>
      <p:pic>
        <p:nvPicPr>
          <p:cNvPr id="6" name="Picture 5" descr="Coach_Dashboard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0"/>
            <a:ext cx="5852160" cy="4572000"/>
          </a:xfrm>
          <a:prstGeom prst="rect">
            <a:avLst/>
          </a:prstGeom>
        </p:spPr>
      </p:pic>
      <p:pic>
        <p:nvPicPr>
          <p:cNvPr id="7" name="Picture 6" descr="Video_Biomechanics_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71600"/>
            <a:ext cx="548640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" y="6035040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75669"/>
                </a:solidFill>
                <a:latin typeface="Calibri"/>
              </a:rPr>
              <a:t>Left: Coach Dashboard — KPI cards, player list, AI tactical intelligence panel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60350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75669"/>
                </a:solidFill>
                <a:latin typeface="Calibri"/>
              </a:rPr>
              <a:t>Right: Video Biomechanics Analyzer — pose tracking metrics, technique diagnosis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 Light"/>
              </a:rPr>
              <a:t>Analysis of Results 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Feature Completion &amp; Story Point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2795778" cy="1280160"/>
          </a:xfrm>
          <a:prstGeom prst="rect">
            <a:avLst/>
          </a:prstGeom>
          <a:solidFill>
            <a:srgbClr val="0F172A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508760"/>
            <a:ext cx="279577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9669"/>
                </a:solidFill>
                <a:latin typeface="Calibri"/>
              </a:rPr>
              <a:t>139 / 155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084831"/>
            <a:ext cx="27957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Calibri"/>
              </a:rPr>
              <a:t>Story Points
Completed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7258" y="1417320"/>
            <a:ext cx="2795778" cy="1280160"/>
          </a:xfrm>
          <a:prstGeom prst="rect">
            <a:avLst/>
          </a:prstGeom>
          <a:solidFill>
            <a:srgbClr val="0F172A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7258" y="1508760"/>
            <a:ext cx="279577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B4D8"/>
                </a:solidFill>
                <a:latin typeface="Calibri"/>
              </a:rPr>
              <a:t>88.3%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7258" y="2084831"/>
            <a:ext cx="27957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Calibri"/>
              </a:rPr>
              <a:t>Completion
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4476" y="1417320"/>
            <a:ext cx="2795778" cy="1280160"/>
          </a:xfrm>
          <a:prstGeom prst="rect">
            <a:avLst/>
          </a:prstGeom>
          <a:solidFill>
            <a:srgbClr val="0F172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4476" y="1508760"/>
            <a:ext cx="279577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59E0B"/>
                </a:solidFill>
                <a:latin typeface="Calibri"/>
              </a:rPr>
              <a:t>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4476" y="2084831"/>
            <a:ext cx="27957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Calibri"/>
              </a:rPr>
              <a:t>User Stories
Delivered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81694" y="1417320"/>
            <a:ext cx="2795778" cy="1280160"/>
          </a:xfrm>
          <a:prstGeom prst="rect">
            <a:avLst/>
          </a:prstGeom>
          <a:solidFill>
            <a:srgbClr val="0F172A"/>
          </a:solidFill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81694" y="1508760"/>
            <a:ext cx="279577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94A3B8"/>
                </a:solidFill>
                <a:latin typeface="Calibri"/>
              </a:rPr>
              <a:t>16 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1694" y="2084831"/>
            <a:ext cx="27957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Calibri"/>
              </a:rPr>
              <a:t>Deferred to
Future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834640"/>
            <a:ext cx="11548872" cy="3474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8712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Sprint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28712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Duration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28712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Points Completed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8712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Key Deliverable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182112"/>
            <a:ext cx="11548872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2004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F172A"/>
                </a:solidFill>
                <a:latin typeface="Calibri"/>
              </a:rPr>
              <a:t>Sprint 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2004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F172A"/>
                </a:solidFill>
                <a:latin typeface="Calibri"/>
              </a:rPr>
              <a:t>Jul 01–07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32004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F172A"/>
                </a:solidFill>
                <a:latin typeface="Calibri"/>
              </a:rPr>
              <a:t>3 pts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2004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Architecture &amp; guide approval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547872"/>
            <a:ext cx="1154887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56616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F172A"/>
                </a:solidFill>
                <a:latin typeface="Calibri"/>
              </a:rPr>
              <a:t>Sprint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356616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F172A"/>
                </a:solidFill>
                <a:latin typeface="Calibri"/>
              </a:rPr>
              <a:t>Jul 08–10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356616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F172A"/>
                </a:solidFill>
                <a:latin typeface="Calibri"/>
              </a:rPr>
              <a:t>28 pts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356616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MongoDB schemas + REST endpoints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3913632"/>
            <a:ext cx="11548872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393192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F172A"/>
                </a:solidFill>
                <a:latin typeface="Calibri"/>
              </a:rPr>
              <a:t>Sprint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93192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F172A"/>
                </a:solidFill>
                <a:latin typeface="Calibri"/>
              </a:rPr>
              <a:t>Jul 11–13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393192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F172A"/>
                </a:solidFill>
                <a:latin typeface="Calibri"/>
              </a:rPr>
              <a:t>24 pts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393192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Recharts radar + wagon wheel SVG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279392"/>
            <a:ext cx="1154887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429768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F172A"/>
                </a:solidFill>
                <a:latin typeface="Calibri"/>
              </a:rPr>
              <a:t>Sprint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429768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F172A"/>
                </a:solidFill>
                <a:latin typeface="Calibri"/>
              </a:rPr>
              <a:t>Jul 14–17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17520" y="429768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F172A"/>
                </a:solidFill>
                <a:latin typeface="Calibri"/>
              </a:rPr>
              <a:t>29 pts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429768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Auth UI, portals, navbar, dashboards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4645152"/>
            <a:ext cx="11548872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66344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F172A"/>
                </a:solidFill>
                <a:latin typeface="Calibri"/>
              </a:rPr>
              <a:t>Sprint 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466344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F172A"/>
                </a:solidFill>
                <a:latin typeface="Calibri"/>
              </a:rPr>
              <a:t>Jul 18–20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7520" y="466344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F172A"/>
                </a:solidFill>
                <a:latin typeface="Calibri"/>
              </a:rPr>
              <a:t>29 pts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0" y="466344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Simulator, predictor, video analyzer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5010912"/>
            <a:ext cx="1154887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50292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F172A"/>
                </a:solidFill>
                <a:latin typeface="Calibri"/>
              </a:rPr>
              <a:t>Sprint 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71600" y="50292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F172A"/>
                </a:solidFill>
                <a:latin typeface="Calibri"/>
              </a:rPr>
              <a:t>Jul 21–23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17520" y="50292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F172A"/>
                </a:solidFill>
                <a:latin typeface="Calibri"/>
              </a:rPr>
              <a:t>18 pts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0" y="50292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DB Manager, AI Coach, documentation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5376672"/>
            <a:ext cx="11548872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539496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F172A"/>
                </a:solidFill>
                <a:latin typeface="Calibri"/>
              </a:rPr>
              <a:t>Sprint 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71600" y="539496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F172A"/>
                </a:solidFill>
                <a:latin typeface="Calibri"/>
              </a:rPr>
              <a:t>Sep 09–18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17520" y="539496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F172A"/>
                </a:solidFill>
                <a:latin typeface="Calibri"/>
              </a:rPr>
              <a:t>18 pts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0" y="539496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H2H comparison, mobile UX, deploy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 Light"/>
              </a:rPr>
              <a:t>Analysis of Results  (2/3)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Module-wise Performance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5577840" cy="2148840"/>
          </a:xfrm>
          <a:prstGeom prst="rect">
            <a:avLst/>
          </a:prstGeom>
          <a:solidFill>
            <a:srgbClr val="0F172A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59669"/>
                </a:solidFill>
                <a:latin typeface="Calibri"/>
              </a:rPr>
              <a:t>Authentication &amp; RBAC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• JWT token flow: login → sign → verify middleware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2199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• 3 roles with granular permission arrays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946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• Quick-login persona presets for evaluators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1693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• bcrypt 10-round hashing — industry standard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5577840" cy="2148840"/>
          </a:xfrm>
          <a:prstGeom prst="rect">
            <a:avLst/>
          </a:prstGeom>
          <a:solidFill>
            <a:srgbClr val="0F172A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630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B4D8"/>
                </a:solidFill>
                <a:latin typeface="Calibri"/>
              </a:rPr>
              <a:t>AI Video Analyzer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745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• Ball speed, bat speed, shot perfection score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22199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• Player-specific scouting report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6946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• Neural scanning animation during frame 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1693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• Shot preset selector (Cover Drive, Pull, etc.)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657600"/>
            <a:ext cx="5577840" cy="2148840"/>
          </a:xfrm>
          <a:prstGeom prst="rect">
            <a:avLst/>
          </a:prstGeom>
          <a:solidFill>
            <a:srgbClr val="0F172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7490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59E0B"/>
                </a:solidFill>
                <a:latin typeface="Calibri"/>
              </a:rPr>
              <a:t>Coach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605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• Live Squad Win Index &amp; Fatigue Risk KPIs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0799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• AI Tactical Intelligence — real-time matchup alerts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5546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• MongoDB CRUD from UI — no raw DB access needed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20293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• Playing XI optimizer with balance score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657600"/>
            <a:ext cx="5577840" cy="2148840"/>
          </a:xfrm>
          <a:prstGeom prst="rect">
            <a:avLst/>
          </a:prstGeom>
          <a:solidFill>
            <a:srgbClr val="0F172A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7490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A855F7"/>
                </a:solidFill>
                <a:latin typeface="Calibri"/>
              </a:rPr>
              <a:t>Match Simulator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1605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• Ball-by-ball stochastic win probability calculation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50799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• Pitch modifier (Dry/Green/Flat) &amp; weather (Humidity/Wind)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85546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• Recharts interactive probability line chart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20293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• Opposition match-up matrix with venue history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 Light"/>
              </a:rPr>
              <a:t>Analysis of Results  (3/3)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Technical Achievements &amp; Known Limitations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5669280" cy="4389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59669"/>
                </a:solidFill>
                <a:latin typeface="Calibri"/>
              </a:rPr>
              <a:t>✅ Technical Achievements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5623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100+ player database auto-seeded on server 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5798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Full MERN stack integration working end-to-end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5973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Dual radar H2H comparison with AI verdict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6148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GitHub Pages live deployment with Vite SPA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632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Mobile responsive with drawer nav + bottom bar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6499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PDF scouting report export via html2canvas + jsPDF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6674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Print A4 CSS layout for match summary reports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6849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bcrypt + JWT security fully integrated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5577840" cy="4389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508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59E0B"/>
                </a:solidFill>
                <a:latin typeface="Calibri"/>
              </a:rPr>
              <a:t>⚠ Known Limitations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8562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Video CV uses simulation (not real OpenCV/MediaPipe)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15798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Match simulator uses static DB metrics (no live API)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45973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No real-time WebSocket live score streaming yet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7614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MongoDB must run locally for backend to function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063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PDF export limited to match summary (not analytics)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 Light"/>
              </a:rPr>
              <a:t>Pending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Deferred backlog &amp; future sprint items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54480"/>
            <a:ext cx="11548872" cy="1554480"/>
          </a:xfrm>
          <a:prstGeom prst="rect">
            <a:avLst/>
          </a:prstGeom>
          <a:solidFill>
            <a:srgbClr val="FFF7E6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59E0B"/>
                </a:solidFill>
                <a:latin typeface="Calibri"/>
              </a:rPr>
              <a:t>US-21  |  Real-time WebSocket Live Match Streaming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Integrate WebSocket connection to CricInfo / Sportradar ball-by-ball feed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0152" y="26974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  <a:latin typeface="Calibri"/>
              </a:rPr>
              <a:t>Story Points: 8 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291840"/>
            <a:ext cx="11548872" cy="1554480"/>
          </a:xfrm>
          <a:prstGeom prst="rect">
            <a:avLst/>
          </a:prstGeom>
          <a:solidFill>
            <a:srgbClr val="FFF7E6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383280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59E0B"/>
                </a:solidFill>
                <a:latin typeface="Calibri"/>
              </a:rPr>
              <a:t>US-22  |  OpenCV + MediaPipe Pose Estimation Sidecar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9476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Python sidecar process for real video keyframe extraction &amp; pose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60152" y="44348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  <a:latin typeface="Calibri"/>
              </a:rPr>
              <a:t>Story Points: 8 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5120640"/>
            <a:ext cx="11548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59669"/>
                </a:solidFill>
                <a:latin typeface="Calibri"/>
              </a:rPr>
              <a:t>All Must Have &amp; Should Have features are 100% complete  |  Only Could Have items deferred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 Light"/>
              </a:rP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Outcomes and horizons for CricketVision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566928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59669"/>
                </a:solidFill>
                <a:latin typeface="Calibri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5623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Production-ready MERN full-stack web application delivered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5798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139 / 155 story points completed (88.3% completion rate)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5973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7 sprint cycles with documented standup logs &amp; retrospectives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6148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Role-based multi-portal system for Coach, Player &amp; Analyst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632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Live deployment at abhijithmohan10.github.io/cricketvision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6499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bcrypt + JWT security hardened and production-ready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557784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508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B4D8"/>
                </a:solidFill>
                <a:latin typeface="Calibri"/>
              </a:rPr>
              <a:t>Future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8562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Real-time WebSocket live score streaming (US-21)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15798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Python OpenCV + MediaPipe pose estimation server (US-22)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45973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Mobile app (React Native) for on-field coaching 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7614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Cloud deployment (AWS / Azure) with Atlas MongoDB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063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Integration with IPL franchise official APIs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364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• AI-generated coaching session video highlights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 Light"/>
              </a:rPr>
              <a:t>Git Version Control — Commit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github.com/Abhijithmohan10/cricketvision</a:t>
            </a:r>
          </a:p>
        </p:txBody>
      </p:sp>
      <p:pic>
        <p:nvPicPr>
          <p:cNvPr id="6" name="Picture 5" descr="GitHub_Commits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0"/>
            <a:ext cx="6858000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60920" y="141732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ourier New"/>
              </a:rPr>
              <a:t>c47ef12 — Add official README.md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182880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ourier New"/>
              </a:rPr>
              <a:t>4d1b4d2 — Update Scrum Book Sprint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224028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ourier New"/>
              </a:rPr>
              <a:t>732440f — H2H Player Comparison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265176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ourier New"/>
              </a:rPr>
              <a:t>9faf036 — Mobile/Desktop responsive layout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306324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ourier New"/>
              </a:rPr>
              <a:t>8e00af0 — Fix UI bugs (Navbar, TeamBuilder)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47472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ourier New"/>
              </a:rPr>
              <a:t>e85cb44 — bcrypt auth + JWT + PDF export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388620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ourier New"/>
              </a:rPr>
              <a:t>bc2e426 — Initial commit (Aug 11, 2026)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6035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59669"/>
                </a:solidFill>
                <a:latin typeface="Calibri"/>
              </a:rPr>
              <a:t>Total: 20+ commits  |  Branch: main  |  Author: Abhijithmohan10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 Light"/>
              </a:rPr>
              <a:t>Bibliography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Academic &amp; Technical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11548872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112745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[1]  React Documentation — https://react.dev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64792"/>
            <a:ext cx="115488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92224"/>
            <a:ext cx="112745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[2]  MongoDB Mongoose ODM — https://mongoosejs.com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112264"/>
            <a:ext cx="11548872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39696"/>
            <a:ext cx="112745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[3]  Recharts Library — https://recharts.org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459736"/>
            <a:ext cx="115488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487168"/>
            <a:ext cx="112745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[4]  Tailwind CSS — https://tailwindcss.com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807208"/>
            <a:ext cx="11548872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834640"/>
            <a:ext cx="112745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[5]  Express.js — https://expressjs.com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154680"/>
            <a:ext cx="115488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182112"/>
            <a:ext cx="112745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[6]  jsonwebtoken (JWT) — https://jwt.io / npmjs.com/package/jsonwebtoken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502152"/>
            <a:ext cx="11548872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529584"/>
            <a:ext cx="112745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[7]  bcryptjs — https://npmjs.com/package/bcrypt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849624"/>
            <a:ext cx="115488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877056"/>
            <a:ext cx="112745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[8]  Vite Build Tool — https://vitejs.dev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197096"/>
            <a:ext cx="11548872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224528"/>
            <a:ext cx="112745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[9]  html2canvas &amp; jsPDF — https://html2canvas.hertzen.com / https://jspdf.info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544568"/>
            <a:ext cx="115488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572000"/>
            <a:ext cx="112745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[10] Node.js Official Docs — https://nodejs.org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892040"/>
            <a:ext cx="11548872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919472"/>
            <a:ext cx="112745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[11] GitHub Pages Deployment — https://pages.github.com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239512"/>
            <a:ext cx="115488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266944"/>
            <a:ext cx="112745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[12] Sportradar Cricket API — https://developer.sportradar.com/cricket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263640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Calibri"/>
              </a:rPr>
              <a:t>© 2026 CricketVision AI  •  Abhijith Mohan  •  MCA Mini-Project  •  Final Evaluation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