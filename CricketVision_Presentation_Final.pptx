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6" d="100"/>
          <a:sy n="76" d="100"/>
        </p:scale>
        <p:origin x="91" y="10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hijith mohan" userId="653feb6b96931766" providerId="LiveId" clId="{64FBFD71-F312-4989-9881-F5ECC5FD1826}"/>
    <pc:docChg chg="custSel addSld delSld modSld">
      <pc:chgData name="Abhijith mohan" userId="653feb6b96931766" providerId="LiveId" clId="{64FBFD71-F312-4989-9881-F5ECC5FD1826}" dt="2026-08-16T00:03:49.112" v="8" actId="2696"/>
      <pc:docMkLst>
        <pc:docMk/>
      </pc:docMkLst>
      <pc:sldChg chg="delSp modSp add del mod">
        <pc:chgData name="Abhijith mohan" userId="653feb6b96931766" providerId="LiveId" clId="{64FBFD71-F312-4989-9881-F5ECC5FD1826}" dt="2026-08-16T00:03:49.112" v="8" actId="2696"/>
        <pc:sldMkLst>
          <pc:docMk/>
          <pc:sldMk cId="3072024699" sldId="284"/>
        </pc:sldMkLst>
        <pc:spChg chg="mod">
          <ac:chgData name="Abhijith mohan" userId="653feb6b96931766" providerId="LiveId" clId="{64FBFD71-F312-4989-9881-F5ECC5FD1826}" dt="2026-08-16T00:01:59.297" v="7" actId="1076"/>
          <ac:spMkLst>
            <pc:docMk/>
            <pc:sldMk cId="3072024699" sldId="284"/>
            <ac:spMk id="3" creationId="{7261ADD5-8749-C792-0CA2-91B29AA04611}"/>
          </ac:spMkLst>
        </pc:spChg>
        <pc:spChg chg="del">
          <ac:chgData name="Abhijith mohan" userId="653feb6b96931766" providerId="LiveId" clId="{64FBFD71-F312-4989-9881-F5ECC5FD1826}" dt="2026-08-16T00:01:39.362" v="3" actId="21"/>
          <ac:spMkLst>
            <pc:docMk/>
            <pc:sldMk cId="3072024699" sldId="284"/>
            <ac:spMk id="8" creationId="{DC285B2C-927F-1663-2792-44E6ADC96F25}"/>
          </ac:spMkLst>
        </pc:spChg>
        <pc:spChg chg="del">
          <ac:chgData name="Abhijith mohan" userId="653feb6b96931766" providerId="LiveId" clId="{64FBFD71-F312-4989-9881-F5ECC5FD1826}" dt="2026-08-16T00:01:34.762" v="2" actId="478"/>
          <ac:spMkLst>
            <pc:docMk/>
            <pc:sldMk cId="3072024699" sldId="284"/>
            <ac:spMk id="9" creationId="{A4E7EC5A-9227-766A-65F9-1E5C46C63E39}"/>
          </ac:spMkLst>
        </pc:spChg>
        <pc:spChg chg="del">
          <ac:chgData name="Abhijith mohan" userId="653feb6b96931766" providerId="LiveId" clId="{64FBFD71-F312-4989-9881-F5ECC5FD1826}" dt="2026-08-16T00:01:28.256" v="1" actId="478"/>
          <ac:spMkLst>
            <pc:docMk/>
            <pc:sldMk cId="3072024699" sldId="284"/>
            <ac:spMk id="10" creationId="{5642CA65-EC35-98E2-54DA-F577284CA349}"/>
          </ac:spMkLst>
        </pc:spChg>
        <pc:spChg chg="del">
          <ac:chgData name="Abhijith mohan" userId="653feb6b96931766" providerId="LiveId" clId="{64FBFD71-F312-4989-9881-F5ECC5FD1826}" dt="2026-08-16T00:01:34.762" v="2" actId="478"/>
          <ac:spMkLst>
            <pc:docMk/>
            <pc:sldMk cId="3072024699" sldId="284"/>
            <ac:spMk id="11" creationId="{060DCA1D-BF03-E4B8-981D-94CDE7A1B16B}"/>
          </ac:spMkLst>
        </pc:spChg>
        <pc:spChg chg="del">
          <ac:chgData name="Abhijith mohan" userId="653feb6b96931766" providerId="LiveId" clId="{64FBFD71-F312-4989-9881-F5ECC5FD1826}" dt="2026-08-16T00:01:34.762" v="2" actId="478"/>
          <ac:spMkLst>
            <pc:docMk/>
            <pc:sldMk cId="3072024699" sldId="284"/>
            <ac:spMk id="12" creationId="{2192A472-5CE1-0966-BFF6-FE0B14B75AE3}"/>
          </ac:spMkLst>
        </pc:spChg>
        <pc:spChg chg="del">
          <ac:chgData name="Abhijith mohan" userId="653feb6b96931766" providerId="LiveId" clId="{64FBFD71-F312-4989-9881-F5ECC5FD1826}" dt="2026-08-16T00:01:34.762" v="2" actId="478"/>
          <ac:spMkLst>
            <pc:docMk/>
            <pc:sldMk cId="3072024699" sldId="284"/>
            <ac:spMk id="13" creationId="{2F2536DF-F6E0-C3DD-333C-087F52B6C805}"/>
          </ac:spMkLst>
        </pc:spChg>
        <pc:spChg chg="del">
          <ac:chgData name="Abhijith mohan" userId="653feb6b96931766" providerId="LiveId" clId="{64FBFD71-F312-4989-9881-F5ECC5FD1826}" dt="2026-08-16T00:01:43.308" v="4" actId="21"/>
          <ac:spMkLst>
            <pc:docMk/>
            <pc:sldMk cId="3072024699" sldId="284"/>
            <ac:spMk id="14" creationId="{06C4EB5E-AA91-2FF8-EDC0-C392126F8DCA}"/>
          </ac:spMkLst>
        </pc:spChg>
        <pc:spChg chg="del">
          <ac:chgData name="Abhijith mohan" userId="653feb6b96931766" providerId="LiveId" clId="{64FBFD71-F312-4989-9881-F5ECC5FD1826}" dt="2026-08-16T00:01:28.256" v="1" actId="478"/>
          <ac:spMkLst>
            <pc:docMk/>
            <pc:sldMk cId="3072024699" sldId="284"/>
            <ac:spMk id="15" creationId="{0D54C5B2-1E10-9A74-287E-FD5605F7955E}"/>
          </ac:spMkLst>
        </pc:spChg>
        <pc:spChg chg="del">
          <ac:chgData name="Abhijith mohan" userId="653feb6b96931766" providerId="LiveId" clId="{64FBFD71-F312-4989-9881-F5ECC5FD1826}" dt="2026-08-16T00:01:28.256" v="1" actId="478"/>
          <ac:spMkLst>
            <pc:docMk/>
            <pc:sldMk cId="3072024699" sldId="284"/>
            <ac:spMk id="16" creationId="{B8A862C0-65C1-D432-8DA1-B1AE2E388859}"/>
          </ac:spMkLst>
        </pc:spChg>
        <pc:spChg chg="del">
          <ac:chgData name="Abhijith mohan" userId="653feb6b96931766" providerId="LiveId" clId="{64FBFD71-F312-4989-9881-F5ECC5FD1826}" dt="2026-08-16T00:01:53.984" v="6" actId="478"/>
          <ac:spMkLst>
            <pc:docMk/>
            <pc:sldMk cId="3072024699" sldId="284"/>
            <ac:spMk id="17" creationId="{E8E85824-547F-EC1D-1F9A-A86247FE572F}"/>
          </ac:spMkLst>
        </pc:spChg>
        <pc:spChg chg="del">
          <ac:chgData name="Abhijith mohan" userId="653feb6b96931766" providerId="LiveId" clId="{64FBFD71-F312-4989-9881-F5ECC5FD1826}" dt="2026-08-16T00:01:34.762" v="2" actId="478"/>
          <ac:spMkLst>
            <pc:docMk/>
            <pc:sldMk cId="3072024699" sldId="284"/>
            <ac:spMk id="18" creationId="{E1DD992C-34A0-BB7A-2B1C-E4E098524479}"/>
          </ac:spMkLst>
        </pc:spChg>
        <pc:spChg chg="del">
          <ac:chgData name="Abhijith mohan" userId="653feb6b96931766" providerId="LiveId" clId="{64FBFD71-F312-4989-9881-F5ECC5FD1826}" dt="2026-08-16T00:01:50.750" v="5" actId="21"/>
          <ac:spMkLst>
            <pc:docMk/>
            <pc:sldMk cId="3072024699" sldId="284"/>
            <ac:spMk id="19" creationId="{C1DBA207-9486-C13E-F081-8CF75019201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1097280"/>
            <a:ext cx="10728655" cy="54864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0B981"/>
                </a:solidFill>
                <a:latin typeface="Arial"/>
              </a:rPr>
              <a:t>CRICKETVISION</a:t>
            </a:r>
          </a:p>
          <a:p>
            <a:pPr>
              <a:spcBef>
                <a:spcPts val="800"/>
              </a:spcBef>
            </a:pPr>
            <a:r>
              <a:rPr sz="2000" b="1">
                <a:solidFill>
                  <a:srgbClr val="F8FAFC"/>
                </a:solidFill>
                <a:latin typeface="Arial"/>
              </a:rPr>
              <a:t>AI-Powered Cricket Performance Analytics &amp; Biomechanics Platform</a:t>
            </a:r>
          </a:p>
          <a:p>
            <a:pPr>
              <a:spcBef>
                <a:spcPts val="1200"/>
              </a:spcBef>
            </a:pPr>
            <a:r>
              <a:rPr sz="1400">
                <a:solidFill>
                  <a:srgbClr val="00E5FF"/>
                </a:solidFill>
                <a:latin typeface="Arial"/>
              </a:rPr>
              <a:t>First Evaluation Presentation  |  Master of Computer Applications (MCA) Mini-Project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4389120"/>
            <a:ext cx="2505456" cy="14630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2139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E5FF"/>
                </a:solidFill>
                <a:latin typeface="Arial"/>
              </a:rPr>
              <a:t>MINI PROJECT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8FAFC"/>
                </a:solidFill>
                <a:latin typeface="Arial"/>
              </a:rPr>
              <a:t>MCA 2nd Year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65576" y="4389120"/>
            <a:ext cx="2505456" cy="14630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48456" y="4663440"/>
            <a:ext cx="2139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E5FF"/>
                </a:solidFill>
                <a:latin typeface="Arial"/>
              </a:rPr>
              <a:t>LEAD DEVELOPER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8FAFC"/>
                </a:solidFill>
                <a:latin typeface="Arial"/>
              </a:rPr>
              <a:t>MCA Student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4389120"/>
            <a:ext cx="2505456" cy="14630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82512" y="4663440"/>
            <a:ext cx="2139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E5FF"/>
                </a:solidFill>
                <a:latin typeface="Arial"/>
              </a:rPr>
              <a:t>REGISTRATION NO.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8FAFC"/>
                </a:solidFill>
                <a:latin typeface="Arial"/>
              </a:rPr>
              <a:t>KTE26MCA-CRIC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33688" y="4389120"/>
            <a:ext cx="2505456" cy="14630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16568" y="4663440"/>
            <a:ext cx="2139696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00E5FF"/>
                </a:solidFill>
                <a:latin typeface="Arial"/>
              </a:rPr>
              <a:t>PROJECT GUIDE</a:t>
            </a:r>
          </a:p>
          <a:p>
            <a:pPr>
              <a:spcBef>
                <a:spcPts val="400"/>
              </a:spcBef>
            </a:pPr>
            <a:r>
              <a:rPr sz="1300" b="1">
                <a:solidFill>
                  <a:srgbClr val="F8FAFC"/>
                </a:solidFill>
                <a:latin typeface="Arial"/>
              </a:rPr>
              <a:t>MCA Project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Introduction &amp; 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80990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Domain Context &amp; Core Vision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3235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Domain Context: </a:t>
            </a:r>
            <a:r>
              <a:rPr sz="1100">
                <a:solidFill>
                  <a:srgbClr val="94A3B8"/>
                </a:solidFill>
                <a:latin typeface="Arial"/>
              </a:rPr>
              <a:t>Modern professional cricket relies heavily on quantitative data analytics, computer vision biomechanics tracking, and predictive simulation engines.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Core Value Proposition: </a:t>
            </a:r>
            <a:r>
              <a:rPr sz="1100">
                <a:solidFill>
                  <a:srgbClr val="94A3B8"/>
                </a:solidFill>
                <a:latin typeface="Arial"/>
              </a:rPr>
              <a:t>CricketVision bridges raw match scorecards with actionable tactical insights, biomechanical body tracking, and AI-driven match simulation.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Centralized Platform: </a:t>
            </a:r>
            <a:r>
              <a:rPr sz="1100">
                <a:solidFill>
                  <a:srgbClr val="94A3B8"/>
                </a:solidFill>
                <a:latin typeface="Arial"/>
              </a:rPr>
              <a:t>Provides one unified hub for Head Coaches, Performance Analysts, and Individual Players.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Accessible Technology: </a:t>
            </a:r>
            <a:r>
              <a:rPr sz="1100">
                <a:solidFill>
                  <a:srgbClr val="94A3B8"/>
                </a:solidFill>
                <a:latin typeface="Arial"/>
              </a:rPr>
              <a:t>Built as a full-stack MERN web application replacing expensive proprietary hardware.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1371600"/>
            <a:ext cx="5180990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687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Key System Portals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590" y="2011680"/>
            <a:ext cx="463235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Head Coach Portal: </a:t>
            </a:r>
            <a:r>
              <a:rPr sz="1100">
                <a:solidFill>
                  <a:srgbClr val="94A3B8"/>
                </a:solidFill>
                <a:latin typeface="Arial"/>
              </a:rPr>
              <a:t>Squad roster management, fatigue level alerts, Playing XI Optimizer, live database CRUD, and AI coaching assistant.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Player Dashboard: </a:t>
            </a:r>
            <a:r>
              <a:rPr sz="1100">
                <a:solidFill>
                  <a:srgbClr val="94A3B8"/>
                </a:solidFill>
                <a:latin typeface="Arial"/>
              </a:rPr>
              <a:t>Personalized performance metrics, 360° SVG Wagon Wheel, pitch length heatmaps, and AI drill suggestions.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Analyst Suite: </a:t>
            </a:r>
            <a:r>
              <a:rPr sz="1100">
                <a:solidFill>
                  <a:srgbClr val="94A3B8"/>
                </a:solidFill>
                <a:latin typeface="Arial"/>
              </a:rPr>
              <a:t>Interactive Match Simulator with ball-by-ball win probability lines, Next Match Predictor, and Video Analyzer.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Central Data Store: </a:t>
            </a:r>
            <a:r>
              <a:rPr sz="1100">
                <a:solidFill>
                  <a:srgbClr val="94A3B8"/>
                </a:solidFill>
                <a:latin typeface="Arial"/>
              </a:rPr>
              <a:t>MongoDB database pre-seeded with 100+ verified IPL &amp; International player profiles.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2011680"/>
            <a:ext cx="1097280" cy="109728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6101E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920240"/>
            <a:ext cx="9326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8FAFC"/>
                </a:solidFill>
                <a:latin typeface="Arial"/>
              </a:rPr>
              <a:t>Requirement Analysis — Existing System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00E5FF"/>
                </a:solidFill>
                <a:latin typeface="Arial"/>
              </a:rPr>
              <a:t>Understanding current cricket coaching practices and their operational limitations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Literature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REQUIREMENT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04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371600"/>
          <a:ext cx="10728655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36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4630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Domain / Area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Authors &amp; Source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Year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E5FF"/>
                          </a:solidFill>
                          <a:latin typeface="Arial"/>
                        </a:rPr>
                        <a:t>Key Takeaways &amp; Reference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Arial"/>
                        </a:rPr>
                        <a:t>Computer Vision Pose Tracking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4A3B8"/>
                          </a:solidFill>
                          <a:latin typeface="Arial"/>
                        </a:rPr>
                        <a:t>Cao et al., IEEE TPAMI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4A3B8"/>
                          </a:solidFill>
                          <a:latin typeface="Arial"/>
                        </a:rPr>
                        <a:t>2026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4A3B8"/>
                          </a:solidFill>
                          <a:latin typeface="Arial"/>
                        </a:rPr>
                        <a:t>Referred this to gain idea about pose estimation skeleton tracking for bowling action &amp; release angle metrics.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630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8FAFC"/>
                          </a:solidFill>
                          <a:latin typeface="Arial"/>
                        </a:rPr>
                        <a:t>Stochastic Match Simulation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4A3B8"/>
                          </a:solidFill>
                          <a:latin typeface="Arial"/>
                        </a:rPr>
                        <a:t>Scarf &amp; Akhtar, JSSSE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4A3B8"/>
                          </a:solidFill>
                          <a:latin typeface="Arial"/>
                        </a:rPr>
                        <a:t>2021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94A3B8"/>
                          </a:solidFill>
                          <a:latin typeface="Arial"/>
                        </a:rPr>
                        <a:t>Referred this to know how stochastic match outcome prediction works and what pitch/weather modifiers to apply.</a:t>
                      </a:r>
                    </a:p>
                  </a:txBody>
                  <a:tcPr>
                    <a:solidFill>
                      <a:srgbClr val="111C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Gap Identified in Existing Systems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REQUIREMENT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1. Lack of Workload Tracking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Traditional scorecards focus on historical runs/wickets, ignoring player fatigue, injury risk, and phase-wise performance.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137160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687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2. Prohibitive System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6870" y="205740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Commercial tracking platforms (Hawk-Eye) cost $50,000+ per match, making them inaccessible for domestic and academy teams.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97764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3. Subjective Video 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Standard coaching relies on qualitative video observation without quantitative joint release angles or stride metrics.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270" y="379476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6870" y="397764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4. Fragmented Platform Tools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6870" y="448056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Existing tools separate player stats, match simulation, and coaching recommendations into isolated, non-communicating systems.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Proposed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REQUIREMENT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MERN Full-Stack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Architecture: </a:t>
            </a:r>
            <a:r>
              <a:rPr sz="1000">
                <a:solidFill>
                  <a:srgbClr val="94A3B8"/>
                </a:solidFill>
                <a:latin typeface="Arial"/>
              </a:rPr>
              <a:t>Node.js &amp; Express REST backend coupled with React 18 SPA.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Data Persistence: </a:t>
            </a:r>
            <a:r>
              <a:rPr sz="1000">
                <a:solidFill>
                  <a:srgbClr val="94A3B8"/>
                </a:solidFill>
                <a:latin typeface="Arial"/>
              </a:rPr>
              <a:t>MongoDB local database instance managed via Mongoose ODM.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Performance: </a:t>
            </a:r>
            <a:r>
              <a:rPr sz="1000">
                <a:solidFill>
                  <a:srgbClr val="94A3B8"/>
                </a:solidFill>
                <a:latin typeface="Arial"/>
              </a:rPr>
              <a:t>Vite build tool ensuring fast, reactive UI rendering.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7778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100+ Player Data Store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Pre-Seeded Dataset: </a:t>
            </a:r>
            <a:r>
              <a:rPr sz="1000">
                <a:solidFill>
                  <a:srgbClr val="94A3B8"/>
                </a:solidFill>
                <a:latin typeface="Arial"/>
              </a:rPr>
              <a:t>Populated with 100+ verified IPL &amp; International player profiles.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Phase Statistics: </a:t>
            </a:r>
            <a:r>
              <a:rPr sz="1000">
                <a:solidFill>
                  <a:srgbClr val="94A3B8"/>
                </a:solidFill>
                <a:latin typeface="Arial"/>
              </a:rPr>
              <a:t>Includes Powerplay, Middle, and Death overs metrics.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Biomechanics Summary: </a:t>
            </a:r>
            <a:r>
              <a:rPr sz="1000">
                <a:solidFill>
                  <a:srgbClr val="94A3B8"/>
                </a:solidFill>
                <a:latin typeface="Arial"/>
              </a:rPr>
              <a:t>Pre-configured release angles, stride lengths, and clutch ratings.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5436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Multi-Role Access Suite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Head Coach: </a:t>
            </a:r>
            <a:r>
              <a:rPr sz="1000">
                <a:solidFill>
                  <a:srgbClr val="94A3B8"/>
                </a:solidFill>
                <a:latin typeface="Arial"/>
              </a:rPr>
              <a:t>Squad fatigue oversight, XI team builder, live player database CRUD.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Player Portal: </a:t>
            </a:r>
            <a:r>
              <a:rPr sz="1000">
                <a:solidFill>
                  <a:srgbClr val="94A3B8"/>
                </a:solidFill>
                <a:latin typeface="Arial"/>
              </a:rPr>
              <a:t>Personalized dashboard, SVG Wagon Wheel, pitch heatmaps, drill advice.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Analyst Suite: </a:t>
            </a:r>
            <a:r>
              <a:rPr sz="1000">
                <a:solidFill>
                  <a:srgbClr val="94A3B8"/>
                </a:solidFill>
                <a:latin typeface="Arial"/>
              </a:rPr>
              <a:t>Match Win Simulator, Next Match Predictor, Video Analyzer.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Software &amp; Hardware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80990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Software Specifications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3235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Operating System: </a:t>
            </a:r>
            <a:r>
              <a:rPr sz="1100">
                <a:solidFill>
                  <a:srgbClr val="94A3B8"/>
                </a:solidFill>
                <a:latin typeface="Arial"/>
              </a:rPr>
              <a:t>Windows 10/11 / macOS / Linux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Runtime &amp; Server: </a:t>
            </a:r>
            <a:r>
              <a:rPr sz="1100">
                <a:solidFill>
                  <a:srgbClr val="94A3B8"/>
                </a:solidFill>
                <a:latin typeface="Arial"/>
              </a:rPr>
              <a:t>Node.js (v18.0+), Express.js framework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Database Engine: </a:t>
            </a:r>
            <a:r>
              <a:rPr sz="1100">
                <a:solidFill>
                  <a:srgbClr val="94A3B8"/>
                </a:solidFill>
                <a:latin typeface="Arial"/>
              </a:rPr>
              <a:t>MongoDB Community Server with Mongoose ODM (v8.24.2)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Frontend Stack: </a:t>
            </a:r>
            <a:r>
              <a:rPr sz="1100">
                <a:solidFill>
                  <a:srgbClr val="94A3B8"/>
                </a:solidFill>
                <a:latin typeface="Arial"/>
              </a:rPr>
              <a:t>React 18, Vite SPA, Tailwind CSS v4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Data Visualizers: </a:t>
            </a:r>
            <a:r>
              <a:rPr sz="1100">
                <a:solidFill>
                  <a:srgbClr val="94A3B8"/>
                </a:solidFill>
                <a:latin typeface="Arial"/>
              </a:rPr>
              <a:t>Recharts, SVG graphics, Lucide React Icons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Development Tools: </a:t>
            </a:r>
            <a:r>
              <a:rPr sz="1100">
                <a:solidFill>
                  <a:srgbClr val="94A3B8"/>
                </a:solidFill>
                <a:latin typeface="Arial"/>
              </a:rPr>
              <a:t>VS Code, Git version control, Postman API client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1371600"/>
            <a:ext cx="5180990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687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Hardware Specifications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590" y="2011680"/>
            <a:ext cx="463235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Processor (CPU): </a:t>
            </a:r>
            <a:r>
              <a:rPr sz="1100">
                <a:solidFill>
                  <a:srgbClr val="94A3B8"/>
                </a:solidFill>
                <a:latin typeface="Arial"/>
              </a:rPr>
              <a:t>Dual-Core Intel Core i5 / AMD Ryzen 5 or higher (2.4 GHz)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System RAM: </a:t>
            </a:r>
            <a:r>
              <a:rPr sz="1100">
                <a:solidFill>
                  <a:srgbClr val="94A3B8"/>
                </a:solidFill>
                <a:latin typeface="Arial"/>
              </a:rPr>
              <a:t>Minimum 8 GB (16 GB Recommended for video processing)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Disk Storage: </a:t>
            </a:r>
            <a:r>
              <a:rPr sz="1100">
                <a:solidFill>
                  <a:srgbClr val="94A3B8"/>
                </a:solidFill>
                <a:latin typeface="Arial"/>
              </a:rPr>
              <a:t>Minimum 10 GB available SSD storage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Display Resolution: </a:t>
            </a:r>
            <a:r>
              <a:rPr sz="1100">
                <a:solidFill>
                  <a:srgbClr val="94A3B8"/>
                </a:solidFill>
                <a:latin typeface="Arial"/>
              </a:rPr>
              <a:t>1920 x 1080 Full HD for multi-chart dashboard view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Camera/Video Source: </a:t>
            </a:r>
            <a:r>
              <a:rPr sz="1100">
                <a:solidFill>
                  <a:srgbClr val="94A3B8"/>
                </a:solidFill>
                <a:latin typeface="Arial"/>
              </a:rPr>
              <a:t>Standard webcam or 1080p MP4 video file input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Formal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645920"/>
            <a:ext cx="9997135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FAFC"/>
                </a:solidFill>
                <a:latin typeface="Arial"/>
              </a:rPr>
              <a:t>"Modern cricket coaching and match analysis suffer from severe data fragmentation, reliance on subjective video review, and a lack of integrated biomechanical feedback. Existing commercial tracking platforms are cost-prohibitive for domestic and developmental squads.</a:t>
            </a:r>
          </a:p>
          <a:p>
            <a:pPr>
              <a:spcBef>
                <a:spcPts val="2000"/>
              </a:spcBef>
            </a:pPr>
            <a:r>
              <a:rPr sz="1500">
                <a:solidFill>
                  <a:srgbClr val="00E5FF"/>
                </a:solidFill>
                <a:latin typeface="Arial"/>
              </a:rPr>
              <a:t>There is an urgent requirement for an accessible, unified full-stack analytics platform that combines real-time squad fatigue monitoring, phase-wise player performance tracking, interactive match win-probability simulation, and computer-vision pose analysis within a role-secured MERN web application."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OBJECTIVES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9601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Arial"/>
              </a:rPr>
              <a:t>1. Centralized MongoDB Engine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Design and deploy a MongoDB database populated with 100+ verified IPL &amp; International player profiles with phase stats and clutch ratings.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728655" cy="9601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24328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E5FF"/>
                </a:solidFill>
                <a:latin typeface="Arial"/>
              </a:rPr>
              <a:t>2. Role-Based Multi-Portal UI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Develop secure, tailored user interfaces for Head Coaches (roster CRUD &amp; AI assistant), Players (personalized dashboard), and Analysts.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728655" cy="9601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767328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82F6"/>
                </a:solidFill>
                <a:latin typeface="Arial"/>
              </a:rPr>
              <a:t>3. Visual Analytics &amp; Biomechanics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Implement custom SVG 360° Pitch &amp; Wagon Wheel visualizers, Recharts Radar charts, and pose-estimation video analysis.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00600"/>
            <a:ext cx="10728655" cy="9601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910328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Arial"/>
              </a:rPr>
              <a:t>4. Tactical Match Simulator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Build a Monte-Carlo style match simulation engine incorporating pitch conditions and weather parameters to calculate win probabilities.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Scope &amp; Relevance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SCOPE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Coach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Squad Oversight: </a:t>
            </a:r>
            <a:r>
              <a:rPr sz="1000">
                <a:solidFill>
                  <a:srgbClr val="94A3B8"/>
                </a:solidFill>
                <a:latin typeface="Arial"/>
              </a:rPr>
              <a:t>Fatigue index alerts and injury risk monitoring.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Team XI Builder: </a:t>
            </a:r>
            <a:r>
              <a:rPr sz="1000">
                <a:solidFill>
                  <a:srgbClr val="94A3B8"/>
                </a:solidFill>
                <a:latin typeface="Arial"/>
              </a:rPr>
              <a:t>Optimized XI balance calculation.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Live Player CRUD: </a:t>
            </a:r>
            <a:r>
              <a:rPr sz="1000">
                <a:solidFill>
                  <a:srgbClr val="94A3B8"/>
                </a:solidFill>
                <a:latin typeface="Arial"/>
              </a:rPr>
              <a:t>Direct MongoDB database management modal.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7778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Player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Personal Hub: </a:t>
            </a:r>
            <a:r>
              <a:rPr sz="1000">
                <a:solidFill>
                  <a:srgbClr val="94A3B8"/>
                </a:solidFill>
                <a:latin typeface="Arial"/>
              </a:rPr>
              <a:t>Individualized form history and phase stats.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Wagon Wheel SVG: </a:t>
            </a:r>
            <a:r>
              <a:rPr sz="1000">
                <a:solidFill>
                  <a:srgbClr val="94A3B8"/>
                </a:solidFill>
                <a:latin typeface="Arial"/>
              </a:rPr>
              <a:t>360-degree shot distribution breakdown.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Video &amp; Drills: </a:t>
            </a:r>
            <a:r>
              <a:rPr sz="1000">
                <a:solidFill>
                  <a:srgbClr val="94A3B8"/>
                </a:solidFill>
                <a:latin typeface="Arial"/>
              </a:rPr>
              <a:t>Pose tracking review and AI drill recommendations.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5436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Analyst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Match Simulator: </a:t>
            </a:r>
            <a:r>
              <a:rPr sz="1000">
                <a:solidFill>
                  <a:srgbClr val="94A3B8"/>
                </a:solidFill>
                <a:latin typeface="Arial"/>
              </a:rPr>
              <a:t>Ball-by-ball win-probability line curves.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Predictor Engine: </a:t>
            </a:r>
            <a:r>
              <a:rPr sz="1000">
                <a:solidFill>
                  <a:srgbClr val="94A3B8"/>
                </a:solidFill>
                <a:latin typeface="Arial"/>
              </a:rPr>
              <a:t>Head-to-head matchup matrices.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Radar Comparison: </a:t>
            </a:r>
            <a:r>
              <a:rPr sz="1000">
                <a:solidFill>
                  <a:srgbClr val="94A3B8"/>
                </a:solidFill>
                <a:latin typeface="Arial"/>
              </a:rPr>
              <a:t>Multi-attribute player comparison charts.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2011680"/>
            <a:ext cx="1097280" cy="1097280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972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06101E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03120" y="1920240"/>
            <a:ext cx="9326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8FAFC"/>
                </a:solidFill>
                <a:latin typeface="Arial"/>
              </a:rPr>
              <a:t>Development Methodology — Scrum Overview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10B981"/>
                </a:solidFill>
                <a:latin typeface="Arial"/>
              </a:rPr>
              <a:t>Iterative full-stack development with short, testable increments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Scrum Roles, Artifacts &amp; Ceremonies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Product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Build a reliable cricket performance analytics platform connecting coaches, analysts, and players in one web app.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137160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687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Product Backlog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6870" y="205740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Auth, Database seeding, Coach dashboard, Player portal, Wagon wheel SVG, Match simulator, and AI coach.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97764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Sprint Backlog &amp; Increment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A selected set of features completed and integrated into the production-ready application at the end of each sprint.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270" y="379476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6870" y="397764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Review &amp; Retrospective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6870" y="448056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Demonstrate completed work to MCA project guide, collect feedback, and optimize performance for the next sprint.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Sprint Workflow Used for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METHODOLOGY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417320" cy="3291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FF"/>
                </a:solidFill>
                <a:latin typeface="Arial"/>
              </a:rPr>
              <a:t>Step 1</a:t>
            </a:r>
          </a:p>
          <a:p>
            <a:pPr algn="ctr"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Select user story from backlog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76856" y="2011680"/>
            <a:ext cx="1417320" cy="3291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368296" y="219456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Arial"/>
              </a:rPr>
              <a:t>Step 2</a:t>
            </a:r>
          </a:p>
          <a:p>
            <a:pPr algn="ctr"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Review DB &amp; API requirements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22191" y="2011680"/>
            <a:ext cx="1417320" cy="3291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13631" y="219456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FF"/>
                </a:solidFill>
                <a:latin typeface="Arial"/>
              </a:rPr>
              <a:t>Step 3</a:t>
            </a:r>
          </a:p>
          <a:p>
            <a:pPr algn="ctr"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Build Mongoose model &amp; routes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67528" y="2011680"/>
            <a:ext cx="1417320" cy="3291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58968" y="219456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Arial"/>
              </a:rPr>
              <a:t>Step 4</a:t>
            </a:r>
          </a:p>
          <a:p>
            <a:pPr algn="ctr"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Build React UI components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2864" y="2011680"/>
            <a:ext cx="1417320" cy="3291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04304" y="219456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FF"/>
                </a:solidFill>
                <a:latin typeface="Arial"/>
              </a:rPr>
              <a:t>Step 5</a:t>
            </a:r>
          </a:p>
          <a:p>
            <a:pPr algn="ctr"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Connect frontend/backend via Axios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58200" y="2011680"/>
            <a:ext cx="1417320" cy="3291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49640" y="219456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0B981"/>
                </a:solidFill>
                <a:latin typeface="Arial"/>
              </a:rPr>
              <a:t>Step 6</a:t>
            </a:r>
          </a:p>
          <a:p>
            <a:pPr algn="ctr"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Test feature end-to-end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03536" y="2011680"/>
            <a:ext cx="1417320" cy="3291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94976" y="2194560"/>
            <a:ext cx="12344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E5FF"/>
                </a:solidFill>
                <a:latin typeface="Arial"/>
              </a:rPr>
              <a:t>Step 7</a:t>
            </a:r>
          </a:p>
          <a:p>
            <a:pPr algn="ctr">
              <a:spcBef>
                <a:spcPts val="1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Commit completed code to Git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Design — High-Level 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505456" cy="7315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rial"/>
              </a:rPr>
              <a:t>Head Coach / Player / Analyst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371600"/>
            <a:ext cx="2505456" cy="7315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rial"/>
              </a:rPr>
              <a:t>React 18 Frontend SPA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9632" y="1371600"/>
            <a:ext cx="2505456" cy="7315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rial"/>
              </a:rPr>
              <a:t>Express.js REST API Gateway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1371600"/>
            <a:ext cx="2505456" cy="7315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000" b="1">
                <a:solidFill>
                  <a:srgbClr val="F8FAFC"/>
                </a:solidFill>
                <a:latin typeface="Arial"/>
              </a:rPr>
              <a:t>MongoDB Database Instance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40"/>
            <a:ext cx="3393338" cy="356616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60120" y="256032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Frontend Tier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926080"/>
            <a:ext cx="293613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React 18 SPA: </a:t>
            </a:r>
            <a:r>
              <a:rPr sz="1000">
                <a:solidFill>
                  <a:srgbClr val="94A3B8"/>
                </a:solidFill>
                <a:latin typeface="Arial"/>
              </a:rPr>
              <a:t>Vite build tool for fast hot-module replacement.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Tailwind CSS: </a:t>
            </a:r>
            <a:r>
              <a:rPr sz="1000">
                <a:solidFill>
                  <a:srgbClr val="94A3B8"/>
                </a:solidFill>
                <a:latin typeface="Arial"/>
              </a:rPr>
              <a:t>Utility-first styling with dark theme integration.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Recharts Engine: </a:t>
            </a:r>
            <a:r>
              <a:rPr sz="1000">
                <a:solidFill>
                  <a:srgbClr val="94A3B8"/>
                </a:solidFill>
                <a:latin typeface="Arial"/>
              </a:rPr>
              <a:t>Multi-axis Skill Radars and Win Probability curves.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9178" y="2377440"/>
            <a:ext cx="3393338" cy="356616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27778" y="256032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Backend 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7778" y="2926080"/>
            <a:ext cx="293613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Node.js &amp; Express: </a:t>
            </a:r>
            <a:r>
              <a:rPr sz="1000">
                <a:solidFill>
                  <a:srgbClr val="94A3B8"/>
                </a:solidFill>
                <a:latin typeface="Arial"/>
              </a:rPr>
              <a:t>RESTful API routes handling JSON payloads.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MVC Pattern: </a:t>
            </a:r>
            <a:r>
              <a:rPr sz="1000">
                <a:solidFill>
                  <a:srgbClr val="94A3B8"/>
                </a:solidFill>
                <a:latin typeface="Arial"/>
              </a:rPr>
              <a:t>Decoupled models, controllers, and router middleware.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Seeding Engine: </a:t>
            </a:r>
            <a:r>
              <a:rPr sz="1000">
                <a:solidFill>
                  <a:srgbClr val="94A3B8"/>
                </a:solidFill>
                <a:latin typeface="Arial"/>
              </a:rPr>
              <a:t>Auto-seeding script for 100+ verified IPL/Intl players.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66836" y="2377440"/>
            <a:ext cx="3393338" cy="356616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95436" y="256032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Data &amp; Security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95436" y="2926080"/>
            <a:ext cx="2936138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MongoDB Local DB: </a:t>
            </a:r>
            <a:r>
              <a:rPr sz="1000">
                <a:solidFill>
                  <a:srgbClr val="94A3B8"/>
                </a:solidFill>
                <a:latin typeface="Arial"/>
              </a:rPr>
              <a:t>High-throughput document store on port 27017.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Mongoose ODM: </a:t>
            </a:r>
            <a:r>
              <a:rPr sz="1000">
                <a:solidFill>
                  <a:srgbClr val="94A3B8"/>
                </a:solidFill>
                <a:latin typeface="Arial"/>
              </a:rPr>
              <a:t>Schema validation for player &amp; user collections.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Role Auth: </a:t>
            </a:r>
            <a:r>
              <a:rPr sz="1000">
                <a:solidFill>
                  <a:srgbClr val="94A3B8"/>
                </a:solidFill>
                <a:latin typeface="Arial"/>
              </a:rPr>
              <a:t>Gated access for Head Coach, Player, and Analyst.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Design — MongoDB Database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2505456" cy="39319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Users Collection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011680"/>
            <a:ext cx="21396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_id (ObjectId)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name (String)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email (String)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password (Hash)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role (Enum)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title (String)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avatar (String)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5576" y="1371600"/>
            <a:ext cx="2505456" cy="39319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94176" y="155448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Players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2011680"/>
            <a:ext cx="21396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_id (ObjectId)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id (String)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name (String)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country (String)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role (String)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iplTeam (String)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fatigueLevel (Num)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371600"/>
            <a:ext cx="2505456" cy="39319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155448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Stats &amp; Phase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2011680"/>
            <a:ext cx="21396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internationalStats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iplStats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phaseStats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powerplayStats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middleOversStats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deathOversStats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clutchRating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33688" y="1371600"/>
            <a:ext cx="2505456" cy="39319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62288" y="1554480"/>
            <a:ext cx="204825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Biomechanics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16568" y="2011680"/>
            <a:ext cx="2139696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releaseAngle (Num)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strideLength (Num)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spineTilt (Num)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elbowExtension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injuryStatus</a:t>
            </a:r>
          </a:p>
          <a:p>
            <a:pPr>
              <a:spcAft>
                <a:spcPts val="400"/>
              </a:spcAft>
            </a:pPr>
            <a:r>
              <a:rPr sz="1000">
                <a:solidFill>
                  <a:srgbClr val="94A3B8"/>
                </a:solidFill>
                <a:latin typeface="Arial"/>
              </a:rPr>
              <a:t>• videoUrl (String)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48640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00E5FF"/>
                </a:solidFill>
                <a:latin typeface="Arial"/>
              </a:rPr>
              <a:t>Core Relationship: Head Coach 1  ➔  Many Squad Players  ➔  Phase &amp; Biomechanics Documents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Implementation Details — Backend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REST API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Express Framework: </a:t>
            </a:r>
            <a:r>
              <a:rPr sz="1000">
                <a:solidFill>
                  <a:srgbClr val="94A3B8"/>
                </a:solidFill>
                <a:latin typeface="Arial"/>
              </a:rPr>
              <a:t>Node.js server running on port 5000 with CORS middleware.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API Controllers: </a:t>
            </a:r>
            <a:r>
              <a:rPr sz="1000">
                <a:solidFill>
                  <a:srgbClr val="94A3B8"/>
                </a:solidFill>
                <a:latin typeface="Arial"/>
              </a:rPr>
              <a:t>Modular route handlers for Auth and Player endpoints.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Error Handling: </a:t>
            </a:r>
            <a:r>
              <a:rPr sz="1000">
                <a:solidFill>
                  <a:srgbClr val="94A3B8"/>
                </a:solidFill>
                <a:latin typeface="Arial"/>
              </a:rPr>
              <a:t>Centralized JSON error response formatting.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7778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MongoDB &amp; Mongoose ODM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Connection Handler: </a:t>
            </a:r>
            <a:r>
              <a:rPr sz="1000">
                <a:solidFill>
                  <a:srgbClr val="94A3B8"/>
                </a:solidFill>
                <a:latin typeface="Arial"/>
              </a:rPr>
              <a:t>Connects to mongodb://127.0.0.1:27017/cricketvision.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Schema Validation: </a:t>
            </a:r>
            <a:r>
              <a:rPr sz="1000">
                <a:solidFill>
                  <a:srgbClr val="94A3B8"/>
                </a:solidFill>
                <a:latin typeface="Arial"/>
              </a:rPr>
              <a:t>Strict type enforcement and default metric values.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Offline Fallback: </a:t>
            </a:r>
            <a:r>
              <a:rPr sz="1000">
                <a:solidFill>
                  <a:srgbClr val="94A3B8"/>
                </a:solidFill>
                <a:latin typeface="Arial"/>
              </a:rPr>
              <a:t>Gracefully falls back to local JSON if MongoDB is offline.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5436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100+ Player Seeding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Auto-Seeder Script: </a:t>
            </a:r>
            <a:r>
              <a:rPr sz="1000">
                <a:solidFill>
                  <a:srgbClr val="94A3B8"/>
                </a:solidFill>
                <a:latin typeface="Arial"/>
              </a:rPr>
              <a:t>Executes findOneAndUpdate with { upsert: true } on launch.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IPL &amp; International: </a:t>
            </a:r>
            <a:r>
              <a:rPr sz="1000">
                <a:solidFill>
                  <a:srgbClr val="94A3B8"/>
                </a:solidFill>
                <a:latin typeface="Arial"/>
              </a:rPr>
              <a:t>Pre-seeds 100+ verified star profiles (Kohli, Bumrah, etc.).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Persona Accounts: </a:t>
            </a:r>
            <a:r>
              <a:rPr sz="1000">
                <a:solidFill>
                  <a:srgbClr val="94A3B8"/>
                </a:solidFill>
                <a:latin typeface="Arial"/>
              </a:rPr>
              <a:t>Pre-configures default Head Coach, Player, and Analyst logins.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Implementation Details — Frontend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React 18 SPA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Component Design: </a:t>
            </a:r>
            <a:r>
              <a:rPr sz="1000">
                <a:solidFill>
                  <a:srgbClr val="94A3B8"/>
                </a:solidFill>
                <a:latin typeface="Arial"/>
              </a:rPr>
              <a:t>Modular UI components (Navbar, Login, Dashboard, Simulator).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State Management: </a:t>
            </a:r>
            <a:r>
              <a:rPr sz="1000">
                <a:solidFill>
                  <a:srgbClr val="94A3B8"/>
                </a:solidFill>
                <a:latin typeface="Arial"/>
              </a:rPr>
              <a:t>React Context API managing auth tokens and role state.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Session Persistence: </a:t>
            </a:r>
            <a:r>
              <a:rPr sz="1000">
                <a:solidFill>
                  <a:srgbClr val="94A3B8"/>
                </a:solidFill>
                <a:latin typeface="Arial"/>
              </a:rPr>
              <a:t>Saves user session in localStorage across page reloads.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7778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Visual &amp; Graphic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360° Wagon Wheel: </a:t>
            </a:r>
            <a:r>
              <a:rPr sz="1000">
                <a:solidFill>
                  <a:srgbClr val="94A3B8"/>
                </a:solidFill>
                <a:latin typeface="Arial"/>
              </a:rPr>
              <a:t>SVG stadium boundary rendering polar shot vectors.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Pitch Length Heatmap: </a:t>
            </a:r>
            <a:r>
              <a:rPr sz="1000">
                <a:solidFill>
                  <a:srgbClr val="94A3B8"/>
                </a:solidFill>
                <a:latin typeface="Arial"/>
              </a:rPr>
              <a:t>Color-coded delivery length density visualizer.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Recharts Skill Radar: </a:t>
            </a:r>
            <a:r>
              <a:rPr sz="1000">
                <a:solidFill>
                  <a:srgbClr val="94A3B8"/>
                </a:solidFill>
                <a:latin typeface="Arial"/>
              </a:rPr>
              <a:t>Multi-attribute radar chart plotting player capabilities.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5436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Persona Quick-Login UI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Single-Click Testing: </a:t>
            </a:r>
            <a:r>
              <a:rPr sz="1000">
                <a:solidFill>
                  <a:srgbClr val="94A3B8"/>
                </a:solidFill>
                <a:latin typeface="Arial"/>
              </a:rPr>
              <a:t>Preset persona cards for Head Coach, Player, and Analyst.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Role Security: </a:t>
            </a:r>
            <a:r>
              <a:rPr sz="1000">
                <a:solidFill>
                  <a:srgbClr val="94A3B8"/>
                </a:solidFill>
                <a:latin typeface="Arial"/>
              </a:rPr>
              <a:t>Dynamic navigation links gated by user permissions.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Database Manager: </a:t>
            </a:r>
            <a:r>
              <a:rPr sz="1000">
                <a:solidFill>
                  <a:srgbClr val="94A3B8"/>
                </a:solidFill>
                <a:latin typeface="Arial"/>
              </a:rPr>
              <a:t>Modal equipping non-technical coaches with full CRUD.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Implementation Details —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IMPLEMENTATION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Frontend-Backend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Shared Axios Client: </a:t>
            </a:r>
            <a:r>
              <a:rPr sz="1000">
                <a:solidFill>
                  <a:srgbClr val="94A3B8"/>
                </a:solidFill>
                <a:latin typeface="Arial"/>
              </a:rPr>
              <a:t>Configured with base URL http://localhost:5000/api.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Reactive Data Sync: </a:t>
            </a:r>
            <a:r>
              <a:rPr sz="1000">
                <a:solidFill>
                  <a:srgbClr val="94A3B8"/>
                </a:solidFill>
                <a:latin typeface="Arial"/>
              </a:rPr>
              <a:t>REST API responses update React component state instantly.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Optimistic Updates: </a:t>
            </a:r>
            <a:r>
              <a:rPr sz="1000">
                <a:solidFill>
                  <a:srgbClr val="94A3B8"/>
                </a:solidFill>
                <a:latin typeface="Arial"/>
              </a:rPr>
              <a:t>UI state updates immediately upon CRUD actions.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7778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Security &amp; Permissions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Role-Based Middleware: </a:t>
            </a:r>
            <a:r>
              <a:rPr sz="1000">
                <a:solidFill>
                  <a:srgbClr val="94A3B8"/>
                </a:solidFill>
                <a:latin typeface="Arial"/>
              </a:rPr>
              <a:t>Backend controllers verify role permissions before execution.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Input Validation: </a:t>
            </a:r>
            <a:r>
              <a:rPr sz="1000">
                <a:solidFill>
                  <a:srgbClr val="94A3B8"/>
                </a:solidFill>
                <a:latin typeface="Arial"/>
              </a:rPr>
              <a:t>Express validator checking email syntax and password length.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Route Protection: </a:t>
            </a:r>
            <a:r>
              <a:rPr sz="1000">
                <a:solidFill>
                  <a:srgbClr val="94A3B8"/>
                </a:solidFill>
                <a:latin typeface="Arial"/>
              </a:rPr>
              <a:t>Frontend router redirects unauthenticated users to login.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5436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Incremental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Sprint-Wise Testing: </a:t>
            </a:r>
            <a:r>
              <a:rPr sz="1000">
                <a:solidFill>
                  <a:srgbClr val="94A3B8"/>
                </a:solidFill>
                <a:latin typeface="Arial"/>
              </a:rPr>
              <a:t>Each feature tested against Definition of Done criteria.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MongoDB Audit: </a:t>
            </a:r>
            <a:r>
              <a:rPr sz="1000">
                <a:solidFill>
                  <a:srgbClr val="94A3B8"/>
                </a:solidFill>
                <a:latin typeface="Arial"/>
              </a:rPr>
              <a:t>Database collections audited after every user story delivery.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End-to-End Walkthrough: </a:t>
            </a:r>
            <a:r>
              <a:rPr sz="1000">
                <a:solidFill>
                  <a:srgbClr val="94A3B8"/>
                </a:solidFill>
                <a:latin typeface="Arial"/>
              </a:rPr>
              <a:t>Passes functional verification across all 3 user roles.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Results — User Authentication &amp; Role Selection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728655" cy="48006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edia_17868378706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10637215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Results — Head Coach Dashboard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728655" cy="48006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edia_17868378707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10637215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Results — Video Pose Biomechanics Analyzer UI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21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234440"/>
            <a:ext cx="10728655" cy="48006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media_17868378706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80160"/>
            <a:ext cx="10637215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Current Status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STATUS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80990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Completed Platform Modules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3235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Development Setup: </a:t>
            </a:r>
            <a:r>
              <a:rPr sz="1000">
                <a:solidFill>
                  <a:srgbClr val="94A3B8"/>
                </a:solidFill>
                <a:latin typeface="Arial"/>
              </a:rPr>
              <a:t>Full-stack MERN environment &amp; Vite SPA structure.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MongoDB Connection: </a:t>
            </a:r>
            <a:r>
              <a:rPr sz="1000">
                <a:solidFill>
                  <a:srgbClr val="94A3B8"/>
                </a:solidFill>
                <a:latin typeface="Arial"/>
              </a:rPr>
              <a:t>Mongoose ODM models &amp; 100+ player seeding engine.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Role Authentication: </a:t>
            </a:r>
            <a:r>
              <a:rPr sz="1000">
                <a:solidFill>
                  <a:srgbClr val="94A3B8"/>
                </a:solidFill>
                <a:latin typeface="Arial"/>
              </a:rPr>
              <a:t>Persona quick-login presets (Coach, Player, Analyst).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Head Coach Module: </a:t>
            </a:r>
            <a:r>
              <a:rPr sz="1000">
                <a:solidFill>
                  <a:srgbClr val="94A3B8"/>
                </a:solidFill>
                <a:latin typeface="Arial"/>
              </a:rPr>
              <a:t>Squad overview, fatigue alerts &amp; Database Manager CRUD.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Player Portal: </a:t>
            </a:r>
            <a:r>
              <a:rPr sz="1000">
                <a:solidFill>
                  <a:srgbClr val="94A3B8"/>
                </a:solidFill>
                <a:latin typeface="Arial"/>
              </a:rPr>
              <a:t>Personalized stats, 360° SVG Wagon Wheel &amp; Skill Radar.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Analyst Suite: </a:t>
            </a:r>
            <a:r>
              <a:rPr sz="1000">
                <a:solidFill>
                  <a:srgbClr val="94A3B8"/>
                </a:solidFill>
                <a:latin typeface="Arial"/>
              </a:rPr>
              <a:t>Match Win Simulator &amp; Video Pose Biomechanics Analyzer.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1371600"/>
            <a:ext cx="5180990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687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Pending / Deferred Backlog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590" y="2011680"/>
            <a:ext cx="463235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WebSocket Live Feed (US-21): </a:t>
            </a:r>
            <a:r>
              <a:rPr sz="1000">
                <a:solidFill>
                  <a:srgbClr val="94A3B8"/>
                </a:solidFill>
                <a:latin typeface="Arial"/>
              </a:rPr>
              <a:t>Integration of real-time WebSocket live score API stream.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OpenCV Pose Sidecar (US-22): </a:t>
            </a:r>
            <a:r>
              <a:rPr sz="1000">
                <a:solidFill>
                  <a:srgbClr val="94A3B8"/>
                </a:solidFill>
                <a:latin typeface="Arial"/>
              </a:rPr>
              <a:t>Python OpenCV + MediaPipe pose keyframe extraction.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Production Security: </a:t>
            </a:r>
            <a:r>
              <a:rPr sz="1000">
                <a:solidFill>
                  <a:srgbClr val="94A3B8"/>
                </a:solidFill>
                <a:latin typeface="Arial"/>
              </a:rPr>
              <a:t>JWT token implementation and bcrypt password hashing.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Mobile Responsiveness: </a:t>
            </a:r>
            <a:r>
              <a:rPr sz="1000">
                <a:solidFill>
                  <a:srgbClr val="94A3B8"/>
                </a:solidFill>
                <a:latin typeface="Arial"/>
              </a:rPr>
              <a:t>Viewport layout tuning for mobile devices.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Export Tools: </a:t>
            </a:r>
            <a:r>
              <a:rPr sz="1000">
                <a:solidFill>
                  <a:srgbClr val="94A3B8"/>
                </a:solidFill>
                <a:latin typeface="Arial"/>
              </a:rPr>
              <a:t>Exporting match summary reports to PDF / Excel formats.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Work Progress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PROGRESS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Sprints 0 - 1 (Foundation)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Setup Vite React + Express repository, defined Mongoose schemas, built 100+ player seeding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137160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687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Sprint 2 (Analytics Visuals)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6870" y="205740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Built PitchAndWagonWheel.jsx SVG visualizer, Recharts Skill Radar, and squad fatigue algorithms.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397764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Sprint 3 (Role Portals)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8056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Built top Navbar, LoginView persona presets, Head Coach Dashboard, and personalized Player Portal UI.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8270" y="3794760"/>
            <a:ext cx="5180990" cy="21488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06870" y="397764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Sprints 4 - 5 (Simulations &amp; CRUD)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6870" y="4480560"/>
            <a:ext cx="472379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>
                <a:solidFill>
                  <a:srgbClr val="F8FAFC"/>
                </a:solidFill>
                <a:latin typeface="Arial"/>
              </a:rPr>
              <a:t>• Built MatchSimulator win probability engine, VideoAnalyzer pose view, DatabaseManager CRUD modal, and AI Coach.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Pending Works &amp; Backlog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PENDING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24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Live Score API (US-21)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Scope: </a:t>
            </a:r>
            <a:r>
              <a:rPr sz="1000">
                <a:solidFill>
                  <a:srgbClr val="94A3B8"/>
                </a:solidFill>
                <a:latin typeface="Arial"/>
              </a:rPr>
              <a:t>WebSocket live match streaming integration.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Functionality: </a:t>
            </a:r>
            <a:r>
              <a:rPr sz="1000">
                <a:solidFill>
                  <a:srgbClr val="94A3B8"/>
                </a:solidFill>
                <a:latin typeface="Arial"/>
              </a:rPr>
              <a:t>Injects real-time score feeds directly into simulator.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Status: </a:t>
            </a:r>
            <a:r>
              <a:rPr sz="1000">
                <a:solidFill>
                  <a:srgbClr val="94A3B8"/>
                </a:solidFill>
                <a:latin typeface="Arial"/>
              </a:rPr>
              <a:t>Deferred to future sprint releases.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27778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OpenCV Sidecar (US-22)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7778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Scope: </a:t>
            </a:r>
            <a:r>
              <a:rPr sz="1000">
                <a:solidFill>
                  <a:srgbClr val="94A3B8"/>
                </a:solidFill>
                <a:latin typeface="Arial"/>
              </a:rPr>
              <a:t>Standalone Python MediaPipe pose microservice.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Functionality: </a:t>
            </a:r>
            <a:r>
              <a:rPr sz="1000">
                <a:solidFill>
                  <a:srgbClr val="94A3B8"/>
                </a:solidFill>
                <a:latin typeface="Arial"/>
              </a:rPr>
              <a:t>Asynchronously extracts 3D skeleton keyframes.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Status: </a:t>
            </a:r>
            <a:r>
              <a:rPr sz="1000">
                <a:solidFill>
                  <a:srgbClr val="94A3B8"/>
                </a:solidFill>
                <a:latin typeface="Arial"/>
              </a:rPr>
              <a:t>Deferred to future sprint releases.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6836" y="1371600"/>
            <a:ext cx="3393338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95436" y="1554480"/>
            <a:ext cx="293613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Production Hardening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5436" y="2011680"/>
            <a:ext cx="2936138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Security: </a:t>
            </a:r>
            <a:r>
              <a:rPr sz="1000">
                <a:solidFill>
                  <a:srgbClr val="94A3B8"/>
                </a:solidFill>
                <a:latin typeface="Arial"/>
              </a:rPr>
              <a:t>JWT session tokens &amp; bcrypt password encryption.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Mobile View: </a:t>
            </a:r>
            <a:r>
              <a:rPr sz="1000">
                <a:solidFill>
                  <a:srgbClr val="94A3B8"/>
                </a:solidFill>
                <a:latin typeface="Arial"/>
              </a:rPr>
              <a:t>Responsive CSS tuning for smartphone screens.</a:t>
            </a:r>
          </a:p>
          <a:p>
            <a:pPr>
              <a:spcAft>
                <a:spcPts val="800"/>
              </a:spcAft>
            </a:pPr>
            <a:r>
              <a:rPr sz="1100" b="1">
                <a:solidFill>
                  <a:srgbClr val="F8FAFC"/>
                </a:solidFill>
                <a:latin typeface="Arial"/>
              </a:rPr>
              <a:t>• Export: </a:t>
            </a:r>
            <a:r>
              <a:rPr sz="1000">
                <a:solidFill>
                  <a:srgbClr val="94A3B8"/>
                </a:solidFill>
                <a:latin typeface="Arial"/>
              </a:rPr>
              <a:t>PDF &amp; Excel export tools for match reports.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Project Execution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630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1 (Done) — Setup, database, auth &amp; MERN scaffold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270" y="13716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61150" y="14630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2 (Done) — 100+ player seeding engine &amp; REST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860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3774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3 (Done) — SVG Wagon Wheel &amp; Recharts Skill Radar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270" y="22860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61150" y="23774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4 (Done) — Head Coach Dashboard &amp; Player Portal UI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004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2918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5 (Done) — Match Win Simulator &amp; Next Match Predictor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270" y="32004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61150" y="32918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6 (Done) — Video Pose Biomechanics Analyzer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7 (Done) — Live Database Manager CRUD Modal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8270" y="41148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61150" y="42062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8 (Done) — AI Coaching Assistant &amp; Report Generator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0292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" y="51206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9 (Next) — WebSocket live score API integration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78270" y="5029200"/>
            <a:ext cx="5180990" cy="77724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61150" y="5120640"/>
            <a:ext cx="481523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8FAFC"/>
                </a:solidFill>
                <a:latin typeface="Arial"/>
              </a:rPr>
              <a:t>Sprint 10 (Next) — OpenCV pose sidecar, JWT hardening &amp; polish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5180990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Project 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463235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Structured Platform: </a:t>
            </a:r>
            <a:r>
              <a:rPr sz="1100">
                <a:solidFill>
                  <a:srgbClr val="94A3B8"/>
                </a:solidFill>
                <a:latin typeface="Arial"/>
              </a:rPr>
              <a:t>CricketVision provides a unified full-stack web platform for managing cricket performance, fatigue, and tactical simulation.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Technical Feasibility: </a:t>
            </a:r>
            <a:r>
              <a:rPr sz="1100">
                <a:solidFill>
                  <a:srgbClr val="94A3B8"/>
                </a:solidFill>
                <a:latin typeface="Arial"/>
              </a:rPr>
              <a:t>The completed MERN architecture, SVG visualizers, and live database manager prove system feasibility.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Empowering Non-Tech Users: </a:t>
            </a:r>
            <a:r>
              <a:rPr sz="1100">
                <a:solidFill>
                  <a:srgbClr val="94A3B8"/>
                </a:solidFill>
                <a:latin typeface="Arial"/>
              </a:rPr>
              <a:t>Database Manager modal enables non-technical coaches to perform live CRUD without database command tools.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High Impact MVP: </a:t>
            </a:r>
            <a:r>
              <a:rPr sz="1100">
                <a:solidFill>
                  <a:srgbClr val="94A3B8"/>
                </a:solidFill>
                <a:latin typeface="Arial"/>
              </a:rPr>
              <a:t>Successfully delivers 121 out of 137 story points (88.3% completion rate).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1371600"/>
            <a:ext cx="5180990" cy="457200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6870" y="1554480"/>
            <a:ext cx="472379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E5FF"/>
                </a:solidFill>
                <a:latin typeface="Arial"/>
              </a:rPr>
              <a:t>Future Scope Horizons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2590" y="2011680"/>
            <a:ext cx="463235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Live Score API Integration: </a:t>
            </a:r>
            <a:r>
              <a:rPr sz="1100">
                <a:solidFill>
                  <a:srgbClr val="94A3B8"/>
                </a:solidFill>
                <a:latin typeface="Arial"/>
              </a:rPr>
              <a:t>Connecting WebSocket feeds for ball-by-ball win predictions during live international fixtures.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Deep-Learning 3D Pose: </a:t>
            </a:r>
            <a:r>
              <a:rPr sz="1100">
                <a:solidFill>
                  <a:srgbClr val="94A3B8"/>
                </a:solidFill>
                <a:latin typeface="Arial"/>
              </a:rPr>
              <a:t>Deploying GPU microservices for frame-accurate 3D bowling action reconstruction.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Smart Wearable IoT Sync: </a:t>
            </a:r>
            <a:r>
              <a:rPr sz="1100">
                <a:solidFill>
                  <a:srgbClr val="94A3B8"/>
                </a:solidFill>
                <a:latin typeface="Arial"/>
              </a:rPr>
              <a:t>Integrating heart-rate and accelerometer smartwatch data for direct physiological fatigue tracking.</a:t>
            </a:r>
          </a:p>
          <a:p>
            <a:pPr>
              <a:spcAft>
                <a:spcPts val="800"/>
              </a:spcAft>
            </a:pPr>
            <a:r>
              <a:rPr sz="1200" b="1">
                <a:solidFill>
                  <a:srgbClr val="F8FAFC"/>
                </a:solidFill>
                <a:latin typeface="Arial"/>
              </a:rPr>
              <a:t>• Mobile Native App: </a:t>
            </a:r>
            <a:r>
              <a:rPr sz="1100">
                <a:solidFill>
                  <a:srgbClr val="94A3B8"/>
                </a:solidFill>
                <a:latin typeface="Arial"/>
              </a:rPr>
              <a:t>Expanding the SPA to iOS/Android native mobile applications.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Git History / Version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GIT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37160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F8FAFC"/>
                </a:solidFill>
                <a:latin typeface="Arial"/>
              </a:rPr>
              <a:t>Git is used to maintain project history and track changes during each development sprint.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94A3B8"/>
                </a:solidFill>
                <a:latin typeface="Arial"/>
              </a:rPr>
              <a:t>Changes are grouped into meaningful feature-based commits instead of one large final commit.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00E5FF"/>
                </a:solidFill>
                <a:latin typeface="Arial"/>
              </a:rPr>
              <a:t>Suggested commit pattern: feat(module): short description of completed change.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926080"/>
            <a:ext cx="10728655" cy="30175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10362895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10B981"/>
                </a:solidFill>
                <a:latin typeface="Consolas"/>
              </a:rPr>
              <a:t>user@MacBook-Pro:~/Dev/CricketVision$ git log --graph --oneline</a:t>
            </a:r>
          </a:p>
          <a:p>
            <a:r>
              <a:rPr sz="1000">
                <a:solidFill>
                  <a:srgbClr val="00E5FF"/>
                </a:solidFill>
                <a:latin typeface="Consolas"/>
              </a:rPr>
              <a:t>* [4e8b392] (HEAD -&gt; main, origin/main) updated player roster seeding engine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* [8c1d54a] (origin/develop, develop) match win simulator module added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|\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| * [1a7c03f] video pose analyzer done for testing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| * [d82f6e1] implemented CRUD operations for player details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| * [6b01a92] added authentication and authorization flow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* | [9a8b1d7] database manager modal completed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|/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* [2f3e4d5] set up Mongoose ORM and initial schema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* [7c6d5e4] installed dependencies and basic server setup</a:t>
            </a:r>
          </a:p>
          <a:p>
            <a:r>
              <a:rPr sz="1000">
                <a:solidFill>
                  <a:srgbClr val="F8FAFC"/>
                </a:solidFill>
                <a:latin typeface="Consolas"/>
              </a:rPr>
              <a:t>* [1a2b3c4] Initial commit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0E5FF"/>
          </a:solidFill>
          <a:ln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F8FAFC"/>
                </a:solidFill>
                <a:latin typeface="Arial"/>
              </a:rPr>
              <a:t>Bibliography &amp; Technical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502920"/>
            <a:ext cx="32305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6217920"/>
            <a:ext cx="10728655" cy="9144"/>
          </a:xfrm>
          <a:prstGeom prst="rect">
            <a:avLst/>
          </a:prstGeom>
          <a:solidFill>
            <a:srgbClr val="1E2E48"/>
          </a:solidFill>
          <a:ln>
            <a:solidFill>
              <a:srgbClr val="1E2E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94A3B8"/>
                </a:solidFill>
                <a:latin typeface="Arial"/>
              </a:rPr>
              <a:t>CricketVision — AI Cricket Performance Analytics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45775" y="626364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1">
                <a:solidFill>
                  <a:srgbClr val="00E5FF"/>
                </a:solidFill>
                <a:latin typeface="Arial"/>
              </a:rPr>
              <a:t>28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728655" cy="9601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481328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0E5FF"/>
                </a:solidFill>
                <a:latin typeface="Arial"/>
              </a:rPr>
              <a:t>React 18 &amp; Vite Documentation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React Core Team &amp; Vite Dev. 'Building Component-Based Single Page Applications.' https://react.dev/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728655" cy="9601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624328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0B981"/>
                </a:solidFill>
                <a:latin typeface="Arial"/>
              </a:rPr>
              <a:t>Express.js &amp; Node Architecture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Express.js Foundation. 'Designing RESTful Web APIs &amp; Middleware Routing.' https://expressjs.com/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57600"/>
            <a:ext cx="10728655" cy="9601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05840" y="3767328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3B82F6"/>
                </a:solidFill>
                <a:latin typeface="Arial"/>
              </a:rPr>
              <a:t>MongoDB &amp; Mongoose ODM Manual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MongoDB Inc. 'Schema Validation, Indexing &amp; Upsert Operations.' https://mongoosejs.com/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00600"/>
            <a:ext cx="10728655" cy="960120"/>
          </a:xfrm>
          <a:prstGeom prst="roundRect">
            <a:avLst/>
          </a:prstGeom>
          <a:solidFill>
            <a:srgbClr val="111C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910328"/>
            <a:ext cx="101800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59E0B"/>
                </a:solidFill>
                <a:latin typeface="Arial"/>
              </a:rPr>
              <a:t>Recharts &amp; SVG Graphic Standards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F8FAFC"/>
                </a:solidFill>
                <a:latin typeface="Arial"/>
              </a:rPr>
              <a:t>Recharts Library. 'Dynamic Polar &amp; Radar Charts for Performance Analytics.' https://recharts.org/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3044</Words>
  <Application>Microsoft Office PowerPoint</Application>
  <PresentationFormat>Widescreen</PresentationFormat>
  <Paragraphs>376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Abhijith mohan</cp:lastModifiedBy>
  <cp:revision>1</cp:revision>
  <dcterms:created xsi:type="dcterms:W3CDTF">2013-01-27T09:14:16Z</dcterms:created>
  <dcterms:modified xsi:type="dcterms:W3CDTF">2026-08-16T00:03:59Z</dcterms:modified>
  <cp:category/>
</cp:coreProperties>
</file>