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0B981"/>
                </a:solidFill>
                <a:latin typeface="Arial"/>
              </a:defRPr>
            </a:pPr>
            <a:r>
              <a:t>CRICKETVISION</a:t>
            </a:r>
          </a:p>
          <a:p>
            <a:pPr>
              <a:spcBef>
                <a:spcPts val="1000"/>
              </a:spcBef>
              <a:defRPr sz="2200" b="1">
                <a:solidFill>
                  <a:srgbClr val="F8FAFC"/>
                </a:solidFill>
              </a:defRPr>
            </a:pPr>
            <a:r>
              <a:t>AI-Powered Cricket Performance Analytics &amp; Biomechanics Platform</a:t>
            </a:r>
          </a:p>
          <a:p>
            <a:pPr>
              <a:spcBef>
                <a:spcPts val="1500"/>
              </a:spcBef>
              <a:defRPr sz="1400">
                <a:solidFill>
                  <a:srgbClr val="38BDF8"/>
                </a:solidFill>
              </a:defRPr>
            </a:pPr>
            <a:r>
              <a:t>First Evaluation Presentation | Master of Computer Applications (MCA) Mini-Project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4572000"/>
            <a:ext cx="1033272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4754880"/>
            <a:ext cx="9784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Presenter: MCA Lead Student Developer  |  Project Timeline: July 1 – July 23, 2026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Technology Stack: MongoDB, Express.js, React 18 (Vite), Node.js, Recharts &amp; SVG Biomechanics</a:t>
            </a:r>
          </a:p>
          <a:p>
            <a:pPr>
              <a:spcBef>
                <a:spcPts val="400"/>
              </a:spcBef>
              <a:defRPr sz="1200">
                <a:solidFill>
                  <a:srgbClr val="F59E0B"/>
                </a:solidFill>
              </a:defRPr>
            </a:pPr>
            <a:r>
              <a:t>Status: 88.3% Completed (121 / 137 Story Points) | Finalized &amp; Guide Approved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2: Introduction &amp; Executive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Project Overview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Domain Context: </a:t>
            </a:r>
            <a:r>
              <a:rPr sz="1200">
                <a:solidFill>
                  <a:srgbClr val="94A3B8"/>
                </a:solidFill>
              </a:rPr>
              <a:t>Modern professional cricket relies heavily on quantitative data analytics, computer vision biomechanics tracking, and predictive simulation engines.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Core Value Proposition: </a:t>
            </a:r>
            <a:r>
              <a:rPr sz="1200">
                <a:solidFill>
                  <a:srgbClr val="94A3B8"/>
                </a:solidFill>
              </a:rPr>
              <a:t>CricketVision bridges raw match scorecards with actionable tactical insights, biomechanical body tracking, and AI-driven match simulation.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Target Users: </a:t>
            </a:r>
            <a:r>
              <a:rPr sz="1200">
                <a:solidFill>
                  <a:srgbClr val="94A3B8"/>
                </a:solidFill>
              </a:rPr>
              <a:t>Engineered for Head Coaches, Elite Players, and Performance Analysts within a single unified web platform.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Core Philosophy: </a:t>
            </a:r>
            <a:r>
              <a:rPr sz="1200">
                <a:solidFill>
                  <a:srgbClr val="94A3B8"/>
                </a:solidFill>
              </a:rPr>
              <a:t>Democratize elite sports analytics by using accessible MERN stack tech without needing million-dollar proprietary hardware.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Key Platform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Coach &amp; Director Portal: </a:t>
            </a:r>
            <a:r>
              <a:rPr sz="1200">
                <a:solidFill>
                  <a:srgbClr val="94A3B8"/>
                </a:solidFill>
              </a:rPr>
              <a:t>Centralized squad oversight, fatigue monitoring, Team XI Optimizer, and AI Coaching strategy assistant.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Player Dashboard: </a:t>
            </a:r>
            <a:r>
              <a:rPr sz="1200">
                <a:solidFill>
                  <a:srgbClr val="94A3B8"/>
                </a:solidFill>
              </a:rPr>
              <a:t>Personalized performance metrics, 360° SVG Wagon Wheel, pitch heatmaps, and biomechanics summary reports.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Analyst Suite: </a:t>
            </a:r>
            <a:r>
              <a:rPr sz="1200">
                <a:solidFill>
                  <a:srgbClr val="94A3B8"/>
                </a:solidFill>
              </a:rPr>
              <a:t>Interactive Match Simulator with ball-by-ball win probability graphs, Next Match Predictor, and pose-estimation Video Analyzer.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Central Data Store: </a:t>
            </a:r>
            <a:r>
              <a:rPr sz="1200">
                <a:solidFill>
                  <a:srgbClr val="94A3B8"/>
                </a:solidFill>
              </a:rPr>
              <a:t>MongoDB database pre-seeded with 100+ verified IPL &amp; International player profiles.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3: Requirement Analysis — Existing System (Heading Slide)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Current Landscape &amp; Operational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Fragmented Static Scorecards: </a:t>
            </a:r>
            <a:r>
              <a:rPr sz="1300">
                <a:solidFill>
                  <a:srgbClr val="94A3B8"/>
                </a:solidFill>
              </a:rPr>
              <a:t>Traditional cricket coaching relies on manual paper scorecards or isolated Excel spreadsheets that lack real-time insights or phase breakdown.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Subjective Video Observation: </a:t>
            </a:r>
            <a:r>
              <a:rPr sz="1300">
                <a:solidFill>
                  <a:srgbClr val="94A3B8"/>
                </a:solidFill>
              </a:rPr>
              <a:t>Coaches analyze video manually without quantitative joint angle measurements, release angle metrics, or stride length tracking.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Lack of Integrated Workload Oversight: </a:t>
            </a:r>
            <a:r>
              <a:rPr sz="1300">
                <a:solidFill>
                  <a:srgbClr val="94A3B8"/>
                </a:solidFill>
              </a:rPr>
              <a:t>Player fatigue and injury risk are monitored subjectively, leading to over-bowling and preventable soft-tissue injuries.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High Expense of Commercial Systems: </a:t>
            </a:r>
            <a:r>
              <a:rPr sz="1300">
                <a:solidFill>
                  <a:srgbClr val="94A3B8"/>
                </a:solidFill>
              </a:rPr>
              <a:t>Commercial solutions like Hawk-Eye and Catapult GPS are prohibitively expensive for domestic, university, and academy teams.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No Unified Multi-Role Access: </a:t>
            </a:r>
            <a:r>
              <a:rPr sz="1300">
                <a:solidFill>
                  <a:srgbClr val="94A3B8"/>
                </a:solidFill>
              </a:rPr>
              <a:t>Existing tools do not offer tailored interfaces for Head Coaches, individual Players, and Performance Analysts in a single database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4: Literature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Academic &amp; Technical Literature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Computer Vision Pose Estimation: </a:t>
            </a:r>
            <a:r>
              <a:rPr sz="1200">
                <a:solidFill>
                  <a:srgbClr val="94A3B8"/>
                </a:solidFill>
              </a:rPr>
              <a:t>Research by Cao et al. (OpenPose/MediaPipe) demonstrates real-time human skeleton tracking for sports movement analysis without markers.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Monte Carlo Match Simulation: </a:t>
            </a:r>
            <a:r>
              <a:rPr sz="1200">
                <a:solidFill>
                  <a:srgbClr val="94A3B8"/>
                </a:solidFill>
              </a:rPr>
              <a:t>Studies in sports probability modeling show that ball-by-ball stochastic simulations accurately predict match win probabilities based on pitch/weather modifiers.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Phase-Wise T20 Analytics: </a:t>
            </a:r>
            <a:r>
              <a:rPr sz="1200">
                <a:solidFill>
                  <a:srgbClr val="94A3B8"/>
                </a:solidFill>
              </a:rPr>
              <a:t>Analytic literature highlights that dividing T20 matches into Powerplay, Middle, and Death overs yields superior predictive accuracy for player performance.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Commercial System Benchmarking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Hawk-Eye &amp; Ball Tracking: </a:t>
            </a:r>
            <a:r>
              <a:rPr sz="1200">
                <a:solidFill>
                  <a:srgbClr val="94A3B8"/>
                </a:solidFill>
              </a:rPr>
              <a:t>Multi-camera optical system with sub-millimeter accuracy, but costs $50,000+ per match and requires dedicated stadium hardware.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CricViz &amp; WinViz Engine: </a:t>
            </a:r>
            <a:r>
              <a:rPr sz="1200">
                <a:solidFill>
                  <a:srgbClr val="94A3B8"/>
                </a:solidFill>
              </a:rPr>
              <a:t>Industry-standard predictive model for broadcast TV, but closed-source and inaccessible for grassroots coaching staff.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Catapult Wearables: </a:t>
            </a:r>
            <a:r>
              <a:rPr sz="1200">
                <a:solidFill>
                  <a:srgbClr val="94A3B8"/>
                </a:solidFill>
              </a:rPr>
              <a:t>GPS wearable sensors measuring bio-metrics, but require physical hardware tags on every athlete.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5: Gap Identified in Existing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Cost &amp; Hardware Barrier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F8FAFC"/>
                </a:solidFill>
              </a:rPr>
              <a:t>• Lack of accessible, web-based computer vision analytics that run on standard video without multi-million dollar stadium installations.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Fragmented Role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F8FAFC"/>
                </a:solidFill>
              </a:rPr>
              <a:t>• Absence of a unified web platform catering simultaneously to Head Coaches (rosters), Players (personal drill reviews), and Analysts (simulations).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Absence of Biomechanical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F8FAFC"/>
                </a:solidFill>
              </a:rPr>
              <a:t>• Scorecards focus solely on runs/wickets, ignoring critical physical biomechanics (spine tilt, release angle, stride length).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776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Static Match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80560"/>
            <a:ext cx="46634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F8FAFC"/>
                </a:solidFill>
              </a:rPr>
              <a:t>• Most platforms present historical stats rather than dynamic, interactive ball-by-ball match win-probability simulation based on pitch conditions.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6: Proposed System — CricketVision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Architectural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Full-Stack MERN Architecture: </a:t>
            </a:r>
            <a:r>
              <a:rPr sz="1200">
                <a:solidFill>
                  <a:srgbClr val="94A3B8"/>
                </a:solidFill>
              </a:rPr>
              <a:t>High-performance Node.js/Express REST backend coupled with a responsive React 18 single-page app and MongoDB Mongoose ODM.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100+ Pre-Seeded Player Database: </a:t>
            </a:r>
            <a:r>
              <a:rPr sz="1200">
                <a:solidFill>
                  <a:srgbClr val="94A3B8"/>
                </a:solidFill>
              </a:rPr>
              <a:t>Instant setup with comprehensive IPL &amp; International player profiles, phase stats, and biomechanics metrics.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Interactive Data Visualizations: </a:t>
            </a:r>
            <a:r>
              <a:rPr sz="1200">
                <a:solidFill>
                  <a:srgbClr val="94A3B8"/>
                </a:solidFill>
              </a:rPr>
              <a:t>Recharts multi-axis Radar Charts, 360° SVG Pitch &amp; Wagon Wheel, and live win-probability lines.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Pose-Estimation Video Analyzer: </a:t>
            </a:r>
            <a:r>
              <a:rPr sz="1200">
                <a:solidFill>
                  <a:srgbClr val="94A3B8"/>
                </a:solidFill>
              </a:rPr>
              <a:t>Canvas-rendered skeleton overlay and angle calculation for fast biomechanical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Role-Based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Coach View: </a:t>
            </a:r>
            <a:r>
              <a:rPr sz="1200">
                <a:solidFill>
                  <a:srgbClr val="94A3B8"/>
                </a:solidFill>
              </a:rPr>
              <a:t>Live fatigue tracking, Team XI balance calculator, full database CRUD management, and AI Strategy assistant.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Player View: </a:t>
            </a:r>
            <a:r>
              <a:rPr sz="1200">
                <a:solidFill>
                  <a:srgbClr val="94A3B8"/>
                </a:solidFill>
              </a:rPr>
              <a:t>Personalized performance dashboard, wagon wheel shot breakdown, drill recommendations, and video keyframe review.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Analyst View: </a:t>
            </a:r>
            <a:r>
              <a:rPr sz="1200">
                <a:solidFill>
                  <a:srgbClr val="94A3B8"/>
                </a:solidFill>
              </a:rPr>
              <a:t>Match Simulator with pitch &amp; weather modifiers, venue historic predictor, and radar player comparisons.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7: Software &amp; Hardware Requirements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Software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Operating System: </a:t>
            </a:r>
            <a:r>
              <a:rPr sz="1100">
                <a:solidFill>
                  <a:srgbClr val="94A3B8"/>
                </a:solidFill>
              </a:rPr>
              <a:t>Windows 10/11 / macOS / Linux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Runtime &amp; Backend: </a:t>
            </a:r>
            <a:r>
              <a:rPr sz="1100">
                <a:solidFill>
                  <a:srgbClr val="94A3B8"/>
                </a:solidFill>
              </a:rPr>
              <a:t>Node.js (v18.0+), Express.js framework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Database: </a:t>
            </a:r>
            <a:r>
              <a:rPr sz="1100">
                <a:solidFill>
                  <a:srgbClr val="94A3B8"/>
                </a:solidFill>
              </a:rPr>
              <a:t>MongoDB Community Server (v6.0+) with Mongoose ODM (v8.24.2)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Frontend Stack: </a:t>
            </a:r>
            <a:r>
              <a:rPr sz="1100">
                <a:solidFill>
                  <a:srgbClr val="94A3B8"/>
                </a:solidFill>
              </a:rPr>
              <a:t>React 18, Vite build tool, Tailwind CSS v4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Visualization Libraries: </a:t>
            </a:r>
            <a:r>
              <a:rPr sz="1100">
                <a:solidFill>
                  <a:srgbClr val="94A3B8"/>
                </a:solidFill>
              </a:rPr>
              <a:t>Recharts, Lucide React Icons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Development Tools: </a:t>
            </a:r>
            <a:r>
              <a:rPr sz="1100">
                <a:solidFill>
                  <a:srgbClr val="94A3B8"/>
                </a:solidFill>
              </a:rPr>
              <a:t>VS Code, Git version control, Postman API 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Hardware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Processor (CPU): </a:t>
            </a:r>
            <a:r>
              <a:rPr sz="1100">
                <a:solidFill>
                  <a:srgbClr val="94A3B8"/>
                </a:solidFill>
              </a:rPr>
              <a:t>Dual-Core Intel Core i5 / AMD Ryzen 5 or higher (2.4 GHz)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System RAM: </a:t>
            </a:r>
            <a:r>
              <a:rPr sz="1100">
                <a:solidFill>
                  <a:srgbClr val="94A3B8"/>
                </a:solidFill>
              </a:rPr>
              <a:t>Minimum 8 GB (16 GB Recommended for smooth video processing)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Disk Storage: </a:t>
            </a:r>
            <a:r>
              <a:rPr sz="1100">
                <a:solidFill>
                  <a:srgbClr val="94A3B8"/>
                </a:solidFill>
              </a:rPr>
              <a:t>Minimum 10 GB available SSD storage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Display Resolution: </a:t>
            </a:r>
            <a:r>
              <a:rPr sz="1100">
                <a:solidFill>
                  <a:srgbClr val="94A3B8"/>
                </a:solidFill>
              </a:rPr>
              <a:t>1920 x 1080 Full HD for optimal multi-chart view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Camera/Video Source: </a:t>
            </a:r>
            <a:r>
              <a:rPr sz="1100">
                <a:solidFill>
                  <a:srgbClr val="94A3B8"/>
                </a:solidFill>
              </a:rPr>
              <a:t>Standard webcam or 1080p MP4 video file input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8: 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Formal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"Modern cricket coaching and match analysis suffer from severe data fragmentation, reliance on subjective video review, and a lack of integrated biomechanical feedback. Existing commercial tracking platforms are cost-prohibitive for domestic and developmental squads.</a:t>
            </a:r>
          </a:p>
          <a:p>
            <a:pPr>
              <a:spcBef>
                <a:spcPts val="1600"/>
              </a:spcBef>
              <a:defRPr sz="1500">
                <a:solidFill>
                  <a:srgbClr val="38BDF8"/>
                </a:solidFill>
              </a:defRPr>
            </a:pPr>
            <a:r>
              <a:t>There is an urgent requirement for an accessible, unified full-stack analytics platform that combines real-time squad fatigue monitoring, phase-wise player performance tracking, interactive match win-probability simulation, and computer-vision pose analysis within a role-secured MERN web application."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9: Project Objectives (Minimum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1. Centralized MongoDB Data Engine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Design and deploy a MongoDB database populated with 100+ verified IPL &amp; International player profiles, supporting Mongoose schema validation for phase stats, clutch ratings, and biomechanics metrics.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2. Role-Based Multi-Portal Architecture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Develop secure, tailored user interfaces for Head Coaches (roster CRUD &amp; AI assistant), Players (personalized portal &amp; drill suggestions), and Performance Analysts.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106984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840479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3. Advanced Visual Analytics &amp; Biomechanics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Implement custom SVG 360° Pitch &amp; Wagon Wheel visualizers, Recharts multi-attribute Radar charts, and a video analyzer supporting skeleton pose-estimation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37760"/>
            <a:ext cx="10698480" cy="1051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4. Tactical Match Simulator &amp; Predictor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Build a Monte-Carlo style match simulation engine incorporating pitch conditions and weather parameters to calculate dynamic ball-by-ball win probabilities.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10: Scope &amp; Relevance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Academic Evaluation: </a:t>
            </a:r>
            <a:r>
              <a:rPr sz="1200">
                <a:solidFill>
                  <a:srgbClr val="94A3B8"/>
                </a:solidFill>
              </a:rPr>
              <a:t>Designed as an MCA Mini-Project demonstrating full-stack MERN engineering, REST API architecture, and database management.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Sports Academies &amp; Franchises: </a:t>
            </a:r>
            <a:r>
              <a:rPr sz="1200">
                <a:solidFill>
                  <a:srgbClr val="94A3B8"/>
                </a:solidFill>
              </a:rPr>
              <a:t>Direct application for state cricket associations, IPL/T20 franchise war-rooms, and coaching academies.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Individual Player Self-Review: </a:t>
            </a:r>
            <a:r>
              <a:rPr sz="1200">
                <a:solidFill>
                  <a:srgbClr val="94A3B8"/>
                </a:solidFill>
              </a:rPr>
              <a:t>Empowers athletes to visually analyze shot distribution, monitor fatigue levels, and perform biomechanical self-corrections.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Industry Relevance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Data-Driven Sports Industry: </a:t>
            </a:r>
            <a:r>
              <a:rPr sz="1200">
                <a:solidFill>
                  <a:srgbClr val="94A3B8"/>
                </a:solidFill>
              </a:rPr>
              <a:t>The global sports analytics market is expanding rapidly; data-backed selection is now mandatory for elite performance.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Cost Accessibility: </a:t>
            </a:r>
            <a:r>
              <a:rPr sz="1200">
                <a:solidFill>
                  <a:srgbClr val="94A3B8"/>
                </a:solidFill>
              </a:rPr>
              <a:t>Eliminates high hardware barriers, allowing mid-tier and amateur clubs to utilize computer vision analytics.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Scalable Web Platform: </a:t>
            </a:r>
            <a:r>
              <a:rPr sz="1200">
                <a:solidFill>
                  <a:srgbClr val="94A3B8"/>
                </a:solidFill>
              </a:rPr>
              <a:t>Modular React + Node architecture allows easy expansion to other sports (football, tennis, basketball).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11: Development Methodology — Agile / Scrum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Scrum Team Roles &amp;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Product Owner / Project Guide: </a:t>
            </a:r>
            <a:r>
              <a:rPr sz="1200">
                <a:solidFill>
                  <a:srgbClr val="94A3B8"/>
                </a:solidFill>
              </a:rPr>
              <a:t>MCA Project Guide (Reviewer &amp; Approver)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Scrum Master &amp; Lead Developer: </a:t>
            </a:r>
            <a:r>
              <a:rPr sz="1200">
                <a:solidFill>
                  <a:srgbClr val="94A3B8"/>
                </a:solidFill>
              </a:rPr>
              <a:t>MCA Student (Full-Stack AI &amp; Web Developer)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Cadence: </a:t>
            </a:r>
            <a:r>
              <a:rPr sz="1200">
                <a:solidFill>
                  <a:srgbClr val="94A3B8"/>
                </a:solidFill>
              </a:rPr>
              <a:t>6 Sprint cycles over 3 weeks (July 1 – July 23, 2026)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Fibonacci Story Scale: </a:t>
            </a:r>
            <a:r>
              <a:rPr sz="1200">
                <a:solidFill>
                  <a:srgbClr val="94A3B8"/>
                </a:solidFill>
              </a:rPr>
              <a:t>1-2 pts (Styling/UI), 3-5 pts (Schemas &amp; REST APIs), 8 pts (Simulator &amp; Seeding), 13 pts (AI Assistant &amp; Pose Engine)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Definition of Done (DoD)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Backend Verification: </a:t>
            </a:r>
            <a:r>
              <a:rPr sz="1200">
                <a:solidFill>
                  <a:srgbClr val="94A3B8"/>
                </a:solidFill>
              </a:rPr>
              <a:t>REST endpoints operate error-free and read/write MongoDB collections (`players`, `users`).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Schema Validation: </a:t>
            </a:r>
            <a:r>
              <a:rPr sz="1200">
                <a:solidFill>
                  <a:srgbClr val="94A3B8"/>
                </a:solidFill>
              </a:rPr>
              <a:t>Mongoose handles duplicate emails, min password lengths, and invalid role enums gracefully.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UI Component Integration: </a:t>
            </a:r>
            <a:r>
              <a:rPr sz="1200">
                <a:solidFill>
                  <a:srgbClr val="94A3B8"/>
                </a:solidFill>
              </a:rPr>
              <a:t>React components render smoothly with live reactive state updates (Recharts, SVG heatmaps).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Role-Based Testing: </a:t>
            </a:r>
            <a:r>
              <a:rPr sz="1200">
                <a:solidFill>
                  <a:srgbClr val="94A3B8"/>
                </a:solidFill>
              </a:rPr>
              <a:t>All 3 security roles (Coach, Player, Analyst) pass complete functional walkthroughs.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12: Master Product Backlog &amp; Story Velocity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29184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Total Planned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AFC"/>
                </a:solidFill>
              </a:defRPr>
            </a:pPr>
            <a:r>
              <a:t>137 Story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Completed (88.3%)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121 Story 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Deferred to Backlog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017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16 Story Points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69848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889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Backlog Epic Breakdown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1014984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Epic 1: System Setup &amp; Database (26 Pts): </a:t>
            </a:r>
            <a:r>
              <a:rPr sz="1100">
                <a:solidFill>
                  <a:srgbClr val="94A3B8"/>
                </a:solidFill>
              </a:rPr>
              <a:t>Vite React scaffold, Mongoose Player/User schemas, 100+ Player Seeding Engine [DONE]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Epic 2: Core REST APIs &amp; Auth (15 Pts): </a:t>
            </a:r>
            <a:r>
              <a:rPr sz="1100">
                <a:solidFill>
                  <a:srgbClr val="94A3B8"/>
                </a:solidFill>
              </a:rPr>
              <a:t>Express endpoints for Auth login/register and Player CRUD operations [DONE]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Epic 3: Visual Analytics Engine (24 Pts): </a:t>
            </a:r>
            <a:r>
              <a:rPr sz="1100">
                <a:solidFill>
                  <a:srgbClr val="94A3B8"/>
                </a:solidFill>
              </a:rPr>
              <a:t>Pitch &amp; Wagon Wheel SVG, Recharts Radar chart, Fatigue &amp; Clutch calculators [DONE]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Epic 4: Role Portals &amp; UX (29 Pts): </a:t>
            </a:r>
            <a:r>
              <a:rPr sz="1100">
                <a:solidFill>
                  <a:srgbClr val="94A3B8"/>
                </a:solidFill>
              </a:rPr>
              <a:t>Navbar role switcher, Login persona presets, Coach Dashboard, Player Portal [DONE]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Epic 5: Simulations &amp; Pose Video (29 Pts): </a:t>
            </a:r>
            <a:r>
              <a:rPr sz="1100">
                <a:solidFill>
                  <a:srgbClr val="94A3B8"/>
                </a:solidFill>
              </a:rPr>
              <a:t>Match Win Simulator, Next Match Predictor, Team XI Builder, Video Analyzer [DONE]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Epic 6: Live Streaming &amp; CV Sidecar (16 Pts): </a:t>
            </a:r>
            <a:r>
              <a:rPr sz="1100">
                <a:solidFill>
                  <a:srgbClr val="94A3B8"/>
                </a:solidFill>
              </a:rPr>
              <a:t>WebSocket score streaming (US-21) and OpenCV pose sidecar (US-22) [DEFERRED]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13: Sprint Breakdown &amp; Burndown Visual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Sprint Execution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Sprint 0 (01/07 - 07/07): </a:t>
            </a:r>
            <a:r>
              <a:rPr sz="1000">
                <a:solidFill>
                  <a:srgbClr val="94A3B8"/>
                </a:solidFill>
              </a:rPr>
              <a:t>Conception, scope definition, tech architecture, MERN setup (3 Pts)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Sprint 1 (08/07 - 10/07): </a:t>
            </a:r>
            <a:r>
              <a:rPr sz="1000">
                <a:solidFill>
                  <a:srgbClr val="94A3B8"/>
                </a:solidFill>
              </a:rPr>
              <a:t>Mongoose Schemas, REST CRUD controllers, 100+ player seeding (28 Pts)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Sprint 2 (11/07 - 13/07): </a:t>
            </a:r>
            <a:r>
              <a:rPr sz="1000">
                <a:solidFill>
                  <a:srgbClr val="94A3B8"/>
                </a:solidFill>
              </a:rPr>
              <a:t>Pitch &amp; Wagon Wheel SVG, Recharts Radar, Fatigue algorithms (24 Pts)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Sprint 3 (14/07 - 17/07): </a:t>
            </a:r>
            <a:r>
              <a:rPr sz="1000">
                <a:solidFill>
                  <a:srgbClr val="94A3B8"/>
                </a:solidFill>
              </a:rPr>
              <a:t>Navbar, Login personas, Dashboard &amp; Player Portal UI (29 Pts)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Sprint 4 (18/07 - 20/07): </a:t>
            </a:r>
            <a:r>
              <a:rPr sz="1000">
                <a:solidFill>
                  <a:srgbClr val="94A3B8"/>
                </a:solidFill>
              </a:rPr>
              <a:t>Match Simulator, Predictor, XI Builder &amp; Pose Video (29 Pts)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Sprint 5 (21/07 - 23/07): </a:t>
            </a:r>
            <a:r>
              <a:rPr sz="1000">
                <a:solidFill>
                  <a:srgbClr val="94A3B8"/>
                </a:solidFill>
              </a:rPr>
              <a:t>Database Manager CRUD, AI Coach assistant, Scrum Book audit (18 Pts)</a:t>
            </a:r>
          </a:p>
        </p:txBody>
      </p:sp>
      <p:pic>
        <p:nvPicPr>
          <p:cNvPr id="6" name="Picture 5" descr="burn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724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14: Design — High-Level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3-Tier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Presentation Tier (Client): </a:t>
            </a:r>
            <a:r>
              <a:rPr sz="1100">
                <a:solidFill>
                  <a:srgbClr val="94A3B8"/>
                </a:solidFill>
              </a:rPr>
              <a:t>React 18 SPA built with Vite, Tailwind CSS v4, Lucide Icons, and Recharts visualization engine.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Application Tier (Server): </a:t>
            </a:r>
            <a:r>
              <a:rPr sz="1100">
                <a:solidFill>
                  <a:srgbClr val="94A3B8"/>
                </a:solidFill>
              </a:rPr>
              <a:t>Express.js REST API server handling request routing, role authorization, and database controllers.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Data Tier (Database): </a:t>
            </a:r>
            <a:r>
              <a:rPr sz="1100">
                <a:solidFill>
                  <a:srgbClr val="94A3B8"/>
                </a:solidFill>
              </a:rPr>
              <a:t>MongoDB local instance running on port 27017, managed via Mongoose ODM schemas.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Seeding Engine: </a:t>
            </a:r>
            <a:r>
              <a:rPr sz="1100">
                <a:solidFill>
                  <a:srgbClr val="94A3B8"/>
                </a:solidFill>
              </a:rPr>
              <a:t>Automatic JSON data seeding script populating 100+ IPL &amp; International player profiles on server startup.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300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15: Design — Data Flow Diagram (DFD) &amp; System Flowchart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Data Flow Level 1 &amp;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User Authentication Flow: </a:t>
            </a:r>
            <a:r>
              <a:rPr sz="1100">
                <a:solidFill>
                  <a:srgbClr val="94A3B8"/>
                </a:solidFill>
              </a:rPr>
              <a:t>User sends credentials -&gt; Express `/api/users/login` -&gt; Mongoose lookup -&gt; Auth state context initialized with role permissions.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Player Analytics Data Flow: </a:t>
            </a:r>
            <a:r>
              <a:rPr sz="1100">
                <a:solidFill>
                  <a:srgbClr val="94A3B8"/>
                </a:solidFill>
              </a:rPr>
              <a:t>Dashboard requests `/api/players` -&gt; Express query -&gt; Mongoose returns player docs -&gt; React renders Recharts Radar &amp; SVG Wagon Wheel.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Database Management Flow: </a:t>
            </a:r>
            <a:r>
              <a:rPr sz="1100">
                <a:solidFill>
                  <a:srgbClr val="94A3B8"/>
                </a:solidFill>
              </a:rPr>
              <a:t>Coach submits CRUD form -&gt; Express `/api/players` POST/PUT/DELETE -&gt; Mongoose updates MongoDB collection -&gt; UI refetches player state.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System Flowchart Logic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1. App Launch: </a:t>
            </a:r>
            <a:r>
              <a:rPr sz="1100">
                <a:solidFill>
                  <a:srgbClr val="94A3B8"/>
                </a:solidFill>
              </a:rPr>
              <a:t>Vite initializes React app; connects to Express backend running on localhost:5000.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2. Role Selection: </a:t>
            </a:r>
            <a:r>
              <a:rPr sz="1100">
                <a:solidFill>
                  <a:srgbClr val="94A3B8"/>
                </a:solidFill>
              </a:rPr>
              <a:t>User selects Persona (Coach, Player, Analyst) or inputs custom credentials.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3. View Routing: </a:t>
            </a:r>
            <a:r>
              <a:rPr sz="1100">
                <a:solidFill>
                  <a:srgbClr val="94A3B8"/>
                </a:solidFill>
              </a:rPr>
              <a:t>Context state dynamically toggles active view (Dashboard, Player Portal, Match Simulator, Video Analyzer).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4. Simulation / Analytics Execution: </a:t>
            </a:r>
            <a:r>
              <a:rPr sz="1100">
                <a:solidFill>
                  <a:srgbClr val="94A3B8"/>
                </a:solidFill>
              </a:rPr>
              <a:t>User interacts with pitch modifiers; simulator executes Monte Carlo math and renders live Recharts curve.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16: Design — MongoDB Schemas &amp; Database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Mongoose Player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Core Identifiers: </a:t>
            </a:r>
            <a:r>
              <a:rPr sz="1000">
                <a:solidFill>
                  <a:srgbClr val="94A3B8"/>
                </a:solidFill>
              </a:rPr>
              <a:t>id (String, unique), name, country, role, iplTeam, jerseyNumber, avatar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Health &amp; Performance Metrics: </a:t>
            </a:r>
            <a:r>
              <a:rPr sz="1000">
                <a:solidFill>
                  <a:srgbClr val="94A3B8"/>
                </a:solidFill>
              </a:rPr>
              <a:t>fatigueLevel (0-100), injuryStatus, clutchRating (0-100)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Attribute Objects: </a:t>
            </a:r>
            <a:r>
              <a:rPr sz="1000">
                <a:solidFill>
                  <a:srgbClr val="94A3B8"/>
                </a:solidFill>
              </a:rPr>
              <a:t>skillRadar (Power, Consistency, Spin, Pace, Field, Clutch)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Match &amp; Phase Stats: </a:t>
            </a:r>
            <a:r>
              <a:rPr sz="1000">
                <a:solidFill>
                  <a:srgbClr val="94A3B8"/>
                </a:solidFill>
              </a:rPr>
              <a:t>internationalStats, iplStats, phaseStats (powerplay, middleOvers, deathOvers)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Biomechanics Data: </a:t>
            </a:r>
            <a:r>
              <a:rPr sz="1000">
                <a:solidFill>
                  <a:srgbClr val="94A3B8"/>
                </a:solidFill>
              </a:rPr>
              <a:t>biomechanicsSummary (releaseAngle, strideLength, spineTilt, elbowExtension)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Mongoose User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User Credentials: </a:t>
            </a:r>
            <a:r>
              <a:rPr sz="1000">
                <a:solidFill>
                  <a:srgbClr val="94A3B8"/>
                </a:solidFill>
              </a:rPr>
              <a:t>id, name (min 2 chars), email (regex validated), password (min 6 chars)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Role Enforcement: </a:t>
            </a:r>
            <a:r>
              <a:rPr sz="1000">
                <a:solidFill>
                  <a:srgbClr val="94A3B8"/>
                </a:solidFill>
              </a:rPr>
              <a:t>role (Enum: ['coach', 'player', 'user'])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Profile Metadata: </a:t>
            </a:r>
            <a:r>
              <a:rPr sz="1000">
                <a:solidFill>
                  <a:srgbClr val="94A3B8"/>
                </a:solidFill>
              </a:rPr>
              <a:t>title, avatar, badge, playerId (links user to Player document)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Permission Array: </a:t>
            </a:r>
            <a:r>
              <a:rPr sz="1000">
                <a:solidFill>
                  <a:srgbClr val="94A3B8"/>
                </a:solidFill>
              </a:rPr>
              <a:t>permissions (e.g. ['read_all', 'manage_roster', 'run_simulation'])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8FAFC"/>
                </a:solidFill>
              </a:rPr>
              <a:t>• Timestamps: </a:t>
            </a:r>
            <a:r>
              <a:rPr sz="1000">
                <a:solidFill>
                  <a:srgbClr val="94A3B8"/>
                </a:solidFill>
              </a:rPr>
              <a:t>Automatic createdAt and updatedAt Mongoose timestamps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17: Implementation Details — MERN Backend &amp; Seeding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Express Server &amp; Mongoose ODM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Server Entry Point: </a:t>
            </a:r>
            <a:r>
              <a:rPr sz="1100">
                <a:solidFill>
                  <a:srgbClr val="94A3B8"/>
                </a:solidFill>
              </a:rPr>
              <a:t>`server.js` configures Express app, CORS middleware, body parser, and port listener (PORT 5000).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Database Connection: </a:t>
            </a:r>
            <a:r>
              <a:rPr sz="1100">
                <a:solidFill>
                  <a:srgbClr val="94A3B8"/>
                </a:solidFill>
              </a:rPr>
              <a:t>Connects to `mongodb://127.0.0.1:27017/cricketvision` with fallback to local JSON state if offline.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REST Controller Routes: </a:t>
            </a:r>
            <a:r>
              <a:rPr sz="1100">
                <a:solidFill>
                  <a:srgbClr val="94A3B8"/>
                </a:solidFill>
              </a:rPr>
              <a:t>Endpoints implemented for `/api/players`, `/api/users/login`, `/api/users/register`, `/api/seed`.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Idempotent Seeding: </a:t>
            </a:r>
            <a:r>
              <a:rPr sz="1100">
                <a:solidFill>
                  <a:srgbClr val="94A3B8"/>
                </a:solidFill>
              </a:rPr>
              <a:t>Auto-populates MongoDB on boot using `findOneAndUpdate` with `{ upsert: true }` to prevent duplicates.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100+ Player Seeding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Comprehensive Coverage: </a:t>
            </a:r>
            <a:r>
              <a:rPr sz="1100">
                <a:solidFill>
                  <a:srgbClr val="94A3B8"/>
                </a:solidFill>
              </a:rPr>
              <a:t>Includes top international stars (Kohli, Bumrah, Rohit, Babar, Rashid Khan, Perry, Harmanpreet).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Phase Statistics Seeding: </a:t>
            </a:r>
            <a:r>
              <a:rPr sz="1100">
                <a:solidFill>
                  <a:srgbClr val="94A3B8"/>
                </a:solidFill>
              </a:rPr>
              <a:t>Detailed runs, strike rates, and economy pre-configured across Powerplay, Middle, and Death overs.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Presets Seeding: </a:t>
            </a:r>
            <a:r>
              <a:rPr sz="1100">
                <a:solidFill>
                  <a:srgbClr val="94A3B8"/>
                </a:solidFill>
              </a:rPr>
              <a:t>Pre-seeds default Coach, Player, and Analyst accounts for immediate evaluation testing.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18: Implementation Details — SVG Pitch &amp; Recharts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SVG Pitch &amp; Wagon Wheel 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Interactive 360° Field: </a:t>
            </a:r>
            <a:r>
              <a:rPr sz="1100">
                <a:solidFill>
                  <a:srgbClr val="94A3B8"/>
                </a:solidFill>
              </a:rPr>
              <a:t>`PitchAndWagonWheel.jsx` renders dynamic SVG stadium boundary with polar angle shot vectors.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Sectors Breakdown: </a:t>
            </a:r>
            <a:r>
              <a:rPr sz="1100">
                <a:solidFill>
                  <a:srgbClr val="94A3B8"/>
                </a:solidFill>
              </a:rPr>
              <a:t>Calculates shot density across Offside, Legside, Straight, Fine Leg, and Mid-Wicket sectors.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Length Heatmap Overlay: </a:t>
            </a:r>
            <a:r>
              <a:rPr sz="1100">
                <a:solidFill>
                  <a:srgbClr val="94A3B8"/>
                </a:solidFill>
              </a:rPr>
              <a:t>Visualizes pitch delivery lengths (Yorker, Good Length, Full Pitch, Short Pitch) with color density highlights.</a:t>
            </a:r>
          </a:p>
        </p:txBody>
      </p:sp>
      <p:pic>
        <p:nvPicPr>
          <p:cNvPr id="6" name="Picture 5" descr="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9626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19: Implementation Details — Simulator &amp; Pose Video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Match Simulator &amp; Next Match Predictor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Match Simulator (`MatchSimulatorView.jsx`): </a:t>
            </a:r>
            <a:r>
              <a:rPr sz="1100">
                <a:solidFill>
                  <a:srgbClr val="94A3B8"/>
                </a:solidFill>
              </a:rPr>
              <a:t>Calculates ball-by-ball win probabilities incorporating team strength ratings, pitch type (Flat, Green, Dry), and weather variables.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Next Match Predictor (`NextMatchPredictorView.jsx`): </a:t>
            </a:r>
            <a:r>
              <a:rPr sz="1100">
                <a:solidFill>
                  <a:srgbClr val="94A3B8"/>
                </a:solidFill>
              </a:rPr>
              <a:t>Generates batter vs bowler head-to-head match-up matrices and venue historic run rate predictions.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Team XI Builder (`TeamBuilderView.jsx`): </a:t>
            </a:r>
            <a:r>
              <a:rPr sz="1100">
                <a:solidFill>
                  <a:srgbClr val="94A3B8"/>
                </a:solidFill>
              </a:rPr>
              <a:t>Calculates team balance score based on batting depth, spin/pace ratio, and clutch rating averages.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Video Pose Tracking &amp; AI Coach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Video Analyzer (`VideoAnalyzerView.jsx`): </a:t>
            </a:r>
            <a:r>
              <a:rPr sz="1100">
                <a:solidFill>
                  <a:srgbClr val="94A3B8"/>
                </a:solidFill>
              </a:rPr>
              <a:t>Renders animated skeleton overlays on bowling delivery footage, displaying release angle, spine tilt, and stride length.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AI Coaching Assistant (`AICoachModal.jsx`): </a:t>
            </a:r>
            <a:r>
              <a:rPr sz="1100">
                <a:solidFill>
                  <a:srgbClr val="94A3B8"/>
                </a:solidFill>
              </a:rPr>
              <a:t>Provides interactive strategy prompt cards for tactical bowling changes, field placements, and injury rehabilitation.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Match Report Modal (`MatchReportModal.jsx`): </a:t>
            </a:r>
            <a:r>
              <a:rPr sz="1100">
                <a:solidFill>
                  <a:srgbClr val="94A3B8"/>
                </a:solidFill>
              </a:rPr>
              <a:t>Generates exportable match summary reports for post-match team debriefs.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20: Results (70% Implementation) — Coach Dashboard &amp; Live CRUD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Coach Dashboard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Squad Overview Cards: </a:t>
            </a:r>
            <a:r>
              <a:rPr sz="1200">
                <a:solidFill>
                  <a:srgbClr val="94A3B8"/>
                </a:solidFill>
              </a:rPr>
              <a:t>Displays total squad size, average clutch rating, highest run-scorer, and top wicket-taker.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Fatigue Monitoring Panel: </a:t>
            </a:r>
            <a:r>
              <a:rPr sz="1200">
                <a:solidFill>
                  <a:srgbClr val="94A3B8"/>
                </a:solidFill>
              </a:rPr>
              <a:t>Flags high-risk players exceeding 75% fatigue threshold with red warning indicators.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Quick Strategy Prompt: </a:t>
            </a:r>
            <a:r>
              <a:rPr sz="1200">
                <a:solidFill>
                  <a:srgbClr val="94A3B8"/>
                </a:solidFill>
              </a:rPr>
              <a:t>One-click access to AI Coach assistant for instant tactical guidance.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Database Manager 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Full Roster CRUD Control: </a:t>
            </a:r>
            <a:r>
              <a:rPr sz="1200">
                <a:solidFill>
                  <a:srgbClr val="94A3B8"/>
                </a:solidFill>
              </a:rPr>
              <a:t>Non-technical coaches can Add New Players, Edit attributes, and Delete player records in real time.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100+ Seeding Reset Button: </a:t>
            </a:r>
            <a:r>
              <a:rPr sz="1200">
                <a:solidFill>
                  <a:srgbClr val="94A3B8"/>
                </a:solidFill>
              </a:rPr>
              <a:t>Instantly resets MongoDB database to default 100+ verified IPL/Intl player profiles.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Instant UI Synchronization: </a:t>
            </a:r>
            <a:r>
              <a:rPr sz="1200">
                <a:solidFill>
                  <a:srgbClr val="94A3B8"/>
                </a:solidFill>
              </a:rPr>
              <a:t>Database edits immediately trigger frontend React state updates without page reload.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21: Results (70% Implementation) — Player Portal &amp; Shot Visualizer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Player Portal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Personalized Dashboard: </a:t>
            </a:r>
            <a:r>
              <a:rPr sz="1200">
                <a:solidFill>
                  <a:srgbClr val="94A3B8"/>
                </a:solidFill>
              </a:rPr>
              <a:t>Customized view for logged-in player (e.g. Virat Kohli or Jasprit Bumrah).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Phase Stats Breakdown: </a:t>
            </a:r>
            <a:r>
              <a:rPr sz="1200">
                <a:solidFill>
                  <a:srgbClr val="94A3B8"/>
                </a:solidFill>
              </a:rPr>
              <a:t>Visualizes strike rate, average, and boundaries across Powerplay, Middle, and Death overs.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Personal Video &amp; Drills: </a:t>
            </a:r>
            <a:r>
              <a:rPr sz="1200">
                <a:solidFill>
                  <a:srgbClr val="94A3B8"/>
                </a:solidFill>
              </a:rPr>
              <a:t>Dedicated video review frame with AI-recommended practice drills based on recent 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Visual Shot &amp; Heatmap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360° SVG Wagon Wheel: </a:t>
            </a:r>
            <a:r>
              <a:rPr sz="1200">
                <a:solidFill>
                  <a:srgbClr val="94A3B8"/>
                </a:solidFill>
              </a:rPr>
              <a:t>Interactive shot distribution chart displaying runs scored in each field sector.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Pitch Delivery Heatmap: </a:t>
            </a:r>
            <a:r>
              <a:rPr sz="1200">
                <a:solidFill>
                  <a:srgbClr val="94A3B8"/>
                </a:solidFill>
              </a:rPr>
              <a:t>Color-coded pitch length chart highlighting bowler line and length consistency.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Multi-Attribute Radar Chart: </a:t>
            </a:r>
            <a:r>
              <a:rPr sz="1200">
                <a:solidFill>
                  <a:srgbClr val="94A3B8"/>
                </a:solidFill>
              </a:rPr>
              <a:t>Recharts radial comparison chart plotting player skills against squad benchmark.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22: Results (70% Implementation) — Simulator &amp; Pose Tracking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Interactive Match Win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Ball-by-Ball Simulation: </a:t>
            </a:r>
            <a:r>
              <a:rPr sz="1200">
                <a:solidFill>
                  <a:srgbClr val="94A3B8"/>
                </a:solidFill>
              </a:rPr>
              <a:t>Generates dynamic win-probability curves based on target score, current overs, and wickets remaining.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Environmental Modifiers: </a:t>
            </a:r>
            <a:r>
              <a:rPr sz="1200">
                <a:solidFill>
                  <a:srgbClr val="94A3B8"/>
                </a:solidFill>
              </a:rPr>
              <a:t>Adjusts simulation math for pitch moisture (Dry, Green, Flat) and weather conditions (Humidity, Wind).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Real-Time Recharts Curve: </a:t>
            </a:r>
            <a:r>
              <a:rPr sz="1200">
                <a:solidFill>
                  <a:srgbClr val="94A3B8"/>
                </a:solidFill>
              </a:rPr>
              <a:t>Live rendering of win percentage fluctuation over 20 overs.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Video Pose Biomechanics Analyzer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Skeleton Overlay Simulation: </a:t>
            </a:r>
            <a:r>
              <a:rPr sz="1200">
                <a:solidFill>
                  <a:srgbClr val="94A3B8"/>
                </a:solidFill>
              </a:rPr>
              <a:t>Renders joint skeletal keypoints (shoulders, elbows, hips, knees) on bowler delivery video.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Biomechanical Metrics: </a:t>
            </a:r>
            <a:r>
              <a:rPr sz="1200">
                <a:solidFill>
                  <a:srgbClr val="94A3B8"/>
                </a:solidFill>
              </a:rPr>
              <a:t>Displays quantitative release angle (e.g. 42°), spine tilt angle, and stride length measurements.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Injury Prevention Alert: </a:t>
            </a:r>
            <a:r>
              <a:rPr sz="1200">
                <a:solidFill>
                  <a:srgbClr val="94A3B8"/>
                </a:solidFill>
              </a:rPr>
              <a:t>Flags abnormal delivery stride metrics that correlate with high lumbar stress.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23: Current Status of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Current Implementation Status: 88.3%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Story Points Completed: </a:t>
            </a:r>
            <a:r>
              <a:rPr sz="1300">
                <a:solidFill>
                  <a:srgbClr val="94A3B8"/>
                </a:solidFill>
              </a:rPr>
              <a:t>121 out of 137 planned story points successfully implemented and tested (88.3% progress).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Core Functionality MVP: </a:t>
            </a:r>
            <a:r>
              <a:rPr sz="1300">
                <a:solidFill>
                  <a:srgbClr val="94A3B8"/>
                </a:solidFill>
              </a:rPr>
              <a:t>Full working MERN stack application with Express server, MongoDB Mongoose ODM, and React 18 SPA.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Role-Based Security: </a:t>
            </a:r>
            <a:r>
              <a:rPr sz="1300">
                <a:solidFill>
                  <a:srgbClr val="94A3B8"/>
                </a:solidFill>
              </a:rPr>
              <a:t>Working authentication engine with 3 distinct portals (Head Coach, Player, Analyst).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Visual &amp; Analytical Engine: </a:t>
            </a:r>
            <a:r>
              <a:rPr sz="1300">
                <a:solidFill>
                  <a:srgbClr val="94A3B8"/>
                </a:solidFill>
              </a:rPr>
              <a:t>Completed Pitch &amp; Wagon Wheel SVG, Recharts Radar chart, Match Simulator, Predictor, and Video Analyzer.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F8FAFC"/>
                </a:solidFill>
              </a:rPr>
              <a:t>• Database Management: </a:t>
            </a:r>
            <a:r>
              <a:rPr sz="1300">
                <a:solidFill>
                  <a:srgbClr val="94A3B8"/>
                </a:solidFill>
              </a:rPr>
              <a:t>Completed live Database Manager modal with 100+ player auto-seeding engine.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24: Work Progress &amp; Sprint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4475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Sprint 0 (100% Done) — Requirements, architecture, MERN setup, Vite + React + Express repository scaffolded.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76272"/>
            <a:ext cx="1069848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9424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Sprint 1 (100% Done) — Mongoose Player &amp; User schemas, 100+ player seeding script, REST CRUD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80944"/>
            <a:ext cx="1069848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Sprint 2 (100% Done) — Pitch &amp; Wagon Wheel SVG component, Recharts Skill Radar, Fatigue &amp; Clutch calculators.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85616"/>
            <a:ext cx="1069848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58768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Sprint 3 (100% Done) — Navbar role switcher, Login personas, Coach Dashboard, Player Portal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90288"/>
            <a:ext cx="1069848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Sprint 4 (100% Done) — Match Win Simulator, Next Match Predictor, XI Team Builder, Pose Video Analyzer.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1069848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46811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Sprint 5 (100% Done) — Database Manager modal, AI Coaching Assistant, Scrum documentation &amp; evaluation prep.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25: Pending Works &amp; Backlog Items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Deferred User Stories (16 Points)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US-21: WebSocket Live Score Stream (8 Pts): </a:t>
            </a:r>
            <a:r>
              <a:rPr sz="1200">
                <a:solidFill>
                  <a:srgbClr val="94A3B8"/>
                </a:solidFill>
              </a:rPr>
              <a:t>Integration of real-time WebSocket connection to external ball-by-ball scoring APIs (CricInfo / Sportradar feed) to stream live match data into simulator.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US-22: OpenCV CV Pose Sidecar (8 Pts): </a:t>
            </a:r>
            <a:r>
              <a:rPr sz="1200">
                <a:solidFill>
                  <a:srgbClr val="94A3B8"/>
                </a:solidFill>
              </a:rPr>
              <a:t>Deployment of a standalone Python OpenCV + MediaPipe pose estimation service to asynchronously extract keyframes from uploaded MP4 videos.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Production Hardening Backlog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JWT Authentication: </a:t>
            </a:r>
            <a:r>
              <a:rPr sz="1200">
                <a:solidFill>
                  <a:srgbClr val="94A3B8"/>
                </a:solidFill>
              </a:rPr>
              <a:t>Implementation of JSON Web Tokens (`jsonwebtoken`) and `bcrypt` password hashing for secure web production hosting.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Mobile App Responsiveness: </a:t>
            </a:r>
            <a:r>
              <a:rPr sz="1200">
                <a:solidFill>
                  <a:srgbClr val="94A3B8"/>
                </a:solidFill>
              </a:rPr>
              <a:t>Optimization of complex multi-chart layouts for mobile portrait viewports.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Export to PDF/Excel: </a:t>
            </a:r>
            <a:r>
              <a:rPr sz="1200">
                <a:solidFill>
                  <a:srgbClr val="94A3B8"/>
                </a:solidFill>
              </a:rPr>
              <a:t>Downloadable PDF match reports and Excel export for database player profiles.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26: Project Plan &amp; Execution Timeline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Phase 1: Inception &amp; Setup (July 1 – July 7, 2026)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Domain research, scope definition, MERN stack configuration, MongoDB local setup.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106984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Phase 2: Database &amp; REST API Core (July 8 – July 10, 2026)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Mongoose Schemas, 100+ player seeding engine, Auth &amp; Player CRUD endpoints.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106984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Phase 3: Analytics &amp; Portals (July 11 – July 17, 2026)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Pitch &amp; Wagon Wheel SVG, Recharts Radar chart, Coach &amp; Player UI portals.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106984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4340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Phase 4: Simulations &amp; CV Video (July 18 – July 20, 2026)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Match Win Simulator, Next Match Predictor, Video Analyzer skeleton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1069848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30352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Phase 5: Refinement &amp; Evaluation (July 21 – July 23, 2026)</a:t>
            </a:r>
          </a:p>
          <a:p>
            <a:pPr>
              <a:spcBef>
                <a:spcPts val="200"/>
              </a:spcBef>
              <a:defRPr sz="1100">
                <a:solidFill>
                  <a:srgbClr val="F8FAFC"/>
                </a:solidFill>
              </a:defRPr>
            </a:pPr>
            <a:r>
              <a:t>Database Manager modal, AI Coach, Scrum Book documentation, First Evaluation PPT.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27: Conclusion &amp; Future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Successful MVP Delivery: </a:t>
            </a:r>
            <a:r>
              <a:rPr sz="1200">
                <a:solidFill>
                  <a:srgbClr val="94A3B8"/>
                </a:solidFill>
              </a:rPr>
              <a:t>CricketVision successfully demonstrates a high-performance, full-stack cricket performance analytics platform.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Bridging Data &amp; Coaching: </a:t>
            </a:r>
            <a:r>
              <a:rPr sz="1200">
                <a:solidFill>
                  <a:srgbClr val="94A3B8"/>
                </a:solidFill>
              </a:rPr>
              <a:t>Empowers non-technical coaches and athletes with actionable visual insights, fatigue alerts, and AI coaching guidance.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High Academic &amp; Commercial Potential: </a:t>
            </a:r>
            <a:r>
              <a:rPr sz="1200">
                <a:solidFill>
                  <a:srgbClr val="94A3B8"/>
                </a:solidFill>
              </a:rPr>
              <a:t>Combines modern web technologies (React 18, Express, MongoDB) with innovative sports science algorithms.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Future Scope &amp; Horizons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Live Score API Integration: </a:t>
            </a:r>
            <a:r>
              <a:rPr sz="1200">
                <a:solidFill>
                  <a:srgbClr val="94A3B8"/>
                </a:solidFill>
              </a:rPr>
              <a:t>Connecting WebSocket feeds for live ball-by-ball match win predictions during international fixtures.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Deep Learning CV Engine: </a:t>
            </a:r>
            <a:r>
              <a:rPr sz="1200">
                <a:solidFill>
                  <a:srgbClr val="94A3B8"/>
                </a:solidFill>
              </a:rPr>
              <a:t>Deploying custom MediaPipe pose models on GPU servers for frame-accurate 3D bowling action reconstruction.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Smart Wearable IoT Sync: </a:t>
            </a:r>
            <a:r>
              <a:rPr sz="1200">
                <a:solidFill>
                  <a:srgbClr val="94A3B8"/>
                </a:solidFill>
              </a:rPr>
              <a:t>Integrating heart-rate and accelerometer smartwatch data for direct physiological fatigue tracking.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28: Git History &amp; Version Control Log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Repository Commit Structure &amp; Sprint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0 Setup Commit: </a:t>
            </a:r>
            <a:r>
              <a:rPr sz="1200">
                <a:solidFill>
                  <a:srgbClr val="94A3B8"/>
                </a:solidFill>
              </a:rPr>
              <a:t>`feat: scaffold Vite React, Tailwind CSS, Express server and folder architecture`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1 Data Commit: </a:t>
            </a:r>
            <a:r>
              <a:rPr sz="1200">
                <a:solidFill>
                  <a:srgbClr val="94A3B8"/>
                </a:solidFill>
              </a:rPr>
              <a:t>`feat: implement Mongoose Player and User schemas with 100+ player seeding engine`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2 Analytics Commit: </a:t>
            </a:r>
            <a:r>
              <a:rPr sz="1200">
                <a:solidFill>
                  <a:srgbClr val="94A3B8"/>
                </a:solidFill>
              </a:rPr>
              <a:t>`feat: build PitchAndWagonWheel SVG component and Recharts skill radar visualizer`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3 Portals Commit: </a:t>
            </a:r>
            <a:r>
              <a:rPr sz="1200">
                <a:solidFill>
                  <a:srgbClr val="94A3B8"/>
                </a:solidFill>
              </a:rPr>
              <a:t>`feat: implement Navbar role switcher, Login personas, Coach Dashboard, and Player Portal`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4 Simulation Commit: </a:t>
            </a:r>
            <a:r>
              <a:rPr sz="1200">
                <a:solidFill>
                  <a:srgbClr val="94A3B8"/>
                </a:solidFill>
              </a:rPr>
              <a:t>`feat: add MatchSimulator win probability engine, Predictor, XI Builder, and Pose Analyzer`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Sprint 5 Polish Commit: </a:t>
            </a:r>
            <a:r>
              <a:rPr sz="1200">
                <a:solidFill>
                  <a:srgbClr val="94A3B8"/>
                </a:solidFill>
              </a:rPr>
              <a:t>`feat: build DatabaseManager live CRUD modal, AICoach assistant, and finalize documentation`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CRICKETVISION | FIRST EVALUATION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Slide 29: Bibliography &amp; Technical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Academic &amp; Technical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1. Pose Estimation Research: </a:t>
            </a:r>
            <a:r>
              <a:rPr sz="1200">
                <a:solidFill>
                  <a:srgbClr val="94A3B8"/>
                </a:solidFill>
              </a:rPr>
              <a:t>Cao, Z., et al. (2019). 'Realtime Multi-Person 2D Pose Estimation using Part Affinity Fields.' IEEE TPAMI, 43(1), 172-186.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2. Predictive Sports Analytics: </a:t>
            </a:r>
            <a:r>
              <a:rPr sz="1200">
                <a:solidFill>
                  <a:srgbClr val="94A3B8"/>
                </a:solidFill>
              </a:rPr>
              <a:t>Scarf, P., &amp; Akhtar, S. (2011). 'Match outcome prediction for cricket.' Journal of Systems Science and Systems Engineering, 20(1), 62-79.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3. Express &amp; Node Architecture: </a:t>
            </a:r>
            <a:r>
              <a:rPr sz="1200">
                <a:solidFill>
                  <a:srgbClr val="94A3B8"/>
                </a:solidFill>
              </a:rPr>
              <a:t>Express.js Official Documentation. 'Designing RESTful Web APIs with Express &amp; Mongoose.' https://expressjs.com/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4. React 18 &amp; Recharts Documentation: </a:t>
            </a:r>
            <a:r>
              <a:rPr sz="1200">
                <a:solidFill>
                  <a:srgbClr val="94A3B8"/>
                </a:solidFill>
              </a:rPr>
              <a:t>React Core Team &amp; Recharts Library. 'Building Responsive Data Visualizations with React &amp; SVG.' https://recharts.org/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F8FAFC"/>
                </a:solidFill>
              </a:rPr>
              <a:t>• 5. MongoDB &amp; Mongoose ODM Manual: </a:t>
            </a:r>
            <a:r>
              <a:rPr sz="1200">
                <a:solidFill>
                  <a:srgbClr val="94A3B8"/>
                </a:solidFill>
              </a:rPr>
              <a:t>MongoDB Inc. 'Mongoose ODM v8 Schema Validation &amp; Indexing Guide.' https://mongoosejs.com/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